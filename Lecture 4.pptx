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1"/>
  </p:sldMasterIdLst>
  <p:notesMasterIdLst>
    <p:notesMasterId r:id="rId28"/>
  </p:notesMasterIdLst>
  <p:sldIdLst>
    <p:sldId id="256" r:id="rId2"/>
    <p:sldId id="257" r:id="rId3"/>
    <p:sldId id="258" r:id="rId4"/>
    <p:sldId id="259" r:id="rId5"/>
    <p:sldId id="263" r:id="rId6"/>
    <p:sldId id="264" r:id="rId7"/>
    <p:sldId id="265" r:id="rId8"/>
    <p:sldId id="266" r:id="rId9"/>
    <p:sldId id="273" r:id="rId10"/>
    <p:sldId id="271" r:id="rId11"/>
    <p:sldId id="272" r:id="rId12"/>
    <p:sldId id="313" r:id="rId13"/>
    <p:sldId id="290" r:id="rId14"/>
    <p:sldId id="321" r:id="rId15"/>
    <p:sldId id="296" r:id="rId16"/>
    <p:sldId id="297" r:id="rId17"/>
    <p:sldId id="299" r:id="rId18"/>
    <p:sldId id="302" r:id="rId19"/>
    <p:sldId id="304" r:id="rId20"/>
    <p:sldId id="305" r:id="rId21"/>
    <p:sldId id="306" r:id="rId22"/>
    <p:sldId id="309" r:id="rId23"/>
    <p:sldId id="307" r:id="rId24"/>
    <p:sldId id="310" r:id="rId25"/>
    <p:sldId id="311" r:id="rId26"/>
    <p:sldId id="323" r:id="rId27"/>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ctr"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ctr"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ctr"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ctr"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0" autoAdjust="0"/>
    <p:restoredTop sz="90929"/>
  </p:normalViewPr>
  <p:slideViewPr>
    <p:cSldViewPr>
      <p:cViewPr varScale="1">
        <p:scale>
          <a:sx n="101" d="100"/>
          <a:sy n="101" d="100"/>
        </p:scale>
        <p:origin x="204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l">
              <a:defRPr sz="1200">
                <a:latin typeface="Times New Roman" pitchFamily="18" charset="0"/>
              </a:defRPr>
            </a:lvl1pPr>
          </a:lstStyle>
          <a:p>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1200">
                <a:latin typeface="Times New Roman" pitchFamily="18" charset="0"/>
              </a:defRPr>
            </a:lvl1pPr>
          </a:lstStyle>
          <a:p>
            <a:endParaRPr lang="en-US"/>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a:latin typeface="Times New Roman" pitchFamily="18" charset="0"/>
              </a:defRPr>
            </a:lvl1pPr>
          </a:lstStyle>
          <a:p>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latin typeface="Times New Roman" pitchFamily="18" charset="0"/>
              </a:defRPr>
            </a:lvl1pPr>
          </a:lstStyle>
          <a:p>
            <a:fld id="{686641E3-9D09-465B-B0B6-CBB3948FC884}"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3490" name="Freeform 1026"/>
          <p:cNvSpPr>
            <a:spLocks/>
          </p:cNvSpPr>
          <p:nvPr/>
        </p:nvSpPr>
        <p:spPr bwMode="gray">
          <a:xfrm>
            <a:off x="690563" y="3340100"/>
            <a:ext cx="7653337" cy="485775"/>
          </a:xfrm>
          <a:custGeom>
            <a:avLst/>
            <a:gdLst/>
            <a:ahLst/>
            <a:cxnLst>
              <a:cxn ang="0">
                <a:pos x="163" y="200"/>
              </a:cxn>
              <a:cxn ang="0">
                <a:pos x="4128" y="200"/>
              </a:cxn>
              <a:cxn ang="0">
                <a:pos x="4128" y="429"/>
              </a:cxn>
              <a:cxn ang="0">
                <a:pos x="0" y="441"/>
              </a:cxn>
              <a:cxn ang="0">
                <a:pos x="163" y="200"/>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000"/>
            </a:schemeClr>
          </a:solidFill>
          <a:ln w="9525">
            <a:noFill/>
            <a:round/>
            <a:headEnd/>
            <a:tailEnd/>
          </a:ln>
        </p:spPr>
        <p:txBody>
          <a:bodyPr wrap="none" anchor="ctr"/>
          <a:lstStyle/>
          <a:p>
            <a:endParaRPr lang="en-US"/>
          </a:p>
        </p:txBody>
      </p:sp>
      <p:sp>
        <p:nvSpPr>
          <p:cNvPr id="63491" name="Rectangle 1027"/>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63492" name="Rectangle 1028"/>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en-US"/>
              <a:t>Click to edit Master subtitle style</a:t>
            </a:r>
          </a:p>
        </p:txBody>
      </p:sp>
      <p:sp>
        <p:nvSpPr>
          <p:cNvPr id="63493" name="Rectangle 1029"/>
          <p:cNvSpPr>
            <a:spLocks noGrp="1" noChangeArrowheads="1"/>
          </p:cNvSpPr>
          <p:nvPr>
            <p:ph type="dt" sz="half" idx="2"/>
          </p:nvPr>
        </p:nvSpPr>
        <p:spPr/>
        <p:txBody>
          <a:bodyPr/>
          <a:lstStyle>
            <a:lvl1pPr>
              <a:defRPr>
                <a:solidFill>
                  <a:srgbClr val="578963"/>
                </a:solidFill>
              </a:defRPr>
            </a:lvl1pPr>
          </a:lstStyle>
          <a:p>
            <a:fld id="{EFEE1807-3B79-4877-B0A1-0D4EFC1DEBA1}" type="datetime1">
              <a:rPr lang="en-US" smtClean="0"/>
              <a:t>10/29/2024</a:t>
            </a:fld>
            <a:endParaRPr lang="en-US"/>
          </a:p>
        </p:txBody>
      </p:sp>
      <p:sp>
        <p:nvSpPr>
          <p:cNvPr id="63494" name="Rectangle 1030"/>
          <p:cNvSpPr>
            <a:spLocks noGrp="1" noChangeArrowheads="1"/>
          </p:cNvSpPr>
          <p:nvPr>
            <p:ph type="ftr" sz="quarter" idx="3"/>
          </p:nvPr>
        </p:nvSpPr>
        <p:spPr bwMode="auto">
          <a:xfrm>
            <a:off x="3124200" y="6248400"/>
            <a:ext cx="2895600" cy="4572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a:solidFill>
                  <a:srgbClr val="578963"/>
                </a:solidFill>
                <a:latin typeface="Times New Roman" pitchFamily="18" charset="0"/>
              </a:defRPr>
            </a:lvl1pPr>
          </a:lstStyle>
          <a:p>
            <a:endParaRPr lang="en-US"/>
          </a:p>
        </p:txBody>
      </p:sp>
      <p:sp>
        <p:nvSpPr>
          <p:cNvPr id="63495" name="Rectangle 1031"/>
          <p:cNvSpPr>
            <a:spLocks noGrp="1" noChangeArrowheads="1"/>
          </p:cNvSpPr>
          <p:nvPr>
            <p:ph type="sldNum" sz="quarter" idx="4"/>
          </p:nvPr>
        </p:nvSpPr>
        <p:spPr/>
        <p:txBody>
          <a:bodyPr/>
          <a:lstStyle>
            <a:lvl1pPr>
              <a:defRPr>
                <a:solidFill>
                  <a:srgbClr val="578963"/>
                </a:solidFill>
              </a:defRPr>
            </a:lvl1pPr>
          </a:lstStyle>
          <a:p>
            <a:fld id="{F5E855A3-D0F1-438B-B9F1-399D446A5EF1}" type="slidenum">
              <a:rPr lang="en-US"/>
              <a:pPr/>
              <a:t>‹#›</a:t>
            </a:fld>
            <a:endParaRPr lang="en-US"/>
          </a:p>
        </p:txBody>
      </p:sp>
      <p:graphicFrame>
        <p:nvGraphicFramePr>
          <p:cNvPr id="63496" name="Rectangle 1032"/>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63501" name="Clip" r:id="rId3" imgW="0" imgH="0" progId="MS_ClipArt_Gallery.2">
                  <p:embed/>
                </p:oleObj>
              </mc:Choice>
              <mc:Fallback>
                <p:oleObj name="Clip" r:id="rId3" imgW="0" imgH="0" progId="MS_ClipArt_Gallery.2">
                  <p:embed/>
                  <p:pic>
                    <p:nvPicPr>
                      <p:cNvPr id="0" name="Rectangle 1032"/>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156B0E17-8121-4DAA-98E6-64680B6C8D86}" type="datetime1">
              <a:rPr lang="en-US" smtClean="0"/>
              <a:t>10/29/2024</a:t>
            </a:fld>
            <a:endParaRPr lang="en-US"/>
          </a:p>
        </p:txBody>
      </p:sp>
      <p:sp>
        <p:nvSpPr>
          <p:cNvPr id="5" name="Slide Number Placeholder 4"/>
          <p:cNvSpPr>
            <a:spLocks noGrp="1"/>
          </p:cNvSpPr>
          <p:nvPr>
            <p:ph type="sldNum" sz="quarter" idx="11"/>
          </p:nvPr>
        </p:nvSpPr>
        <p:spPr/>
        <p:txBody>
          <a:bodyPr/>
          <a:lstStyle>
            <a:lvl1pPr>
              <a:defRPr/>
            </a:lvl1pPr>
          </a:lstStyle>
          <a:p>
            <a:fld id="{0CE8B4ED-F473-44DC-8BCA-08AC378C3B98}"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AE19068C-71D8-46B7-9017-CDEF462622D6}" type="datetime1">
              <a:rPr lang="en-US" smtClean="0"/>
              <a:t>10/29/2024</a:t>
            </a:fld>
            <a:endParaRPr lang="en-US"/>
          </a:p>
        </p:txBody>
      </p:sp>
      <p:sp>
        <p:nvSpPr>
          <p:cNvPr id="5" name="Slide Number Placeholder 4"/>
          <p:cNvSpPr>
            <a:spLocks noGrp="1"/>
          </p:cNvSpPr>
          <p:nvPr>
            <p:ph type="sldNum" sz="quarter" idx="11"/>
          </p:nvPr>
        </p:nvSpPr>
        <p:spPr/>
        <p:txBody>
          <a:bodyPr/>
          <a:lstStyle>
            <a:lvl1pPr>
              <a:defRPr/>
            </a:lvl1pPr>
          </a:lstStyle>
          <a:p>
            <a:fld id="{747BBECB-0713-4B13-B0C8-7A42CD1C5139}"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715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720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1990B3C8-24E8-4833-A571-7D6649EF545D}" type="datetime1">
              <a:rPr lang="en-US" smtClean="0"/>
              <a:t>10/29/2024</a:t>
            </a:fld>
            <a:endParaRPr lang="en-US"/>
          </a:p>
        </p:txBody>
      </p:sp>
      <p:sp>
        <p:nvSpPr>
          <p:cNvPr id="6" name="Slide Number Placeholder 5"/>
          <p:cNvSpPr>
            <a:spLocks noGrp="1"/>
          </p:cNvSpPr>
          <p:nvPr>
            <p:ph type="sldNum" sz="quarter" idx="11"/>
          </p:nvPr>
        </p:nvSpPr>
        <p:spPr/>
        <p:txBody>
          <a:bodyPr/>
          <a:lstStyle>
            <a:lvl1pPr>
              <a:defRPr/>
            </a:lvl1pPr>
          </a:lstStyle>
          <a:p>
            <a:fld id="{8434D34C-D6AB-44B1-B0A7-8D692A51C74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E42F4503-3A42-4E31-96A7-9A7D444F2D75}" type="datetime1">
              <a:rPr lang="en-US" smtClean="0"/>
              <a:t>10/29/2024</a:t>
            </a:fld>
            <a:endParaRPr lang="en-US"/>
          </a:p>
        </p:txBody>
      </p:sp>
      <p:sp>
        <p:nvSpPr>
          <p:cNvPr id="8" name="Slide Number Placeholder 7"/>
          <p:cNvSpPr>
            <a:spLocks noGrp="1"/>
          </p:cNvSpPr>
          <p:nvPr>
            <p:ph type="sldNum" sz="quarter" idx="11"/>
          </p:nvPr>
        </p:nvSpPr>
        <p:spPr/>
        <p:txBody>
          <a:bodyPr/>
          <a:lstStyle>
            <a:lvl1pPr>
              <a:defRPr/>
            </a:lvl1pPr>
          </a:lstStyle>
          <a:p>
            <a:fld id="{1C89B134-EB64-4D35-ABFC-C6944BC3531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E061768F-553D-40F7-BF53-D077344BEBA1}" type="datetime1">
              <a:rPr lang="en-US" smtClean="0"/>
              <a:t>10/29/2024</a:t>
            </a:fld>
            <a:endParaRPr lang="en-US"/>
          </a:p>
        </p:txBody>
      </p:sp>
      <p:sp>
        <p:nvSpPr>
          <p:cNvPr id="4" name="Slide Number Placeholder 3"/>
          <p:cNvSpPr>
            <a:spLocks noGrp="1"/>
          </p:cNvSpPr>
          <p:nvPr>
            <p:ph type="sldNum" sz="quarter" idx="11"/>
          </p:nvPr>
        </p:nvSpPr>
        <p:spPr/>
        <p:txBody>
          <a:bodyPr/>
          <a:lstStyle>
            <a:lvl1pPr>
              <a:defRPr/>
            </a:lvl1pPr>
          </a:lstStyle>
          <a:p>
            <a:fld id="{53DB83EC-317B-4F66-9E1E-297964FDF4D5}"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DBDFDBC-0F10-4C9B-850A-E4A5068565DF}" type="datetime1">
              <a:rPr lang="en-US" smtClean="0"/>
              <a:t>10/29/2024</a:t>
            </a:fld>
            <a:endParaRPr lang="en-US"/>
          </a:p>
        </p:txBody>
      </p:sp>
      <p:sp>
        <p:nvSpPr>
          <p:cNvPr id="3" name="Slide Number Placeholder 2"/>
          <p:cNvSpPr>
            <a:spLocks noGrp="1"/>
          </p:cNvSpPr>
          <p:nvPr>
            <p:ph type="sldNum" sz="quarter" idx="11"/>
          </p:nvPr>
        </p:nvSpPr>
        <p:spPr/>
        <p:txBody>
          <a:bodyPr/>
          <a:lstStyle>
            <a:lvl1pPr>
              <a:defRPr/>
            </a:lvl1pPr>
          </a:lstStyle>
          <a:p>
            <a:fld id="{FF47D49D-1B60-4699-AFEB-AFF86CF2EB64}"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548B17B4-FF37-4DDC-AB7B-E5DCD718B8CF}" type="datetime1">
              <a:rPr lang="en-US" smtClean="0"/>
              <a:t>10/29/2024</a:t>
            </a:fld>
            <a:endParaRPr lang="en-US"/>
          </a:p>
        </p:txBody>
      </p:sp>
      <p:sp>
        <p:nvSpPr>
          <p:cNvPr id="6" name="Slide Number Placeholder 5"/>
          <p:cNvSpPr>
            <a:spLocks noGrp="1"/>
          </p:cNvSpPr>
          <p:nvPr>
            <p:ph type="sldNum" sz="quarter" idx="11"/>
          </p:nvPr>
        </p:nvSpPr>
        <p:spPr/>
        <p:txBody>
          <a:bodyPr/>
          <a:lstStyle>
            <a:lvl1pPr>
              <a:defRPr/>
            </a:lvl1pPr>
          </a:lstStyle>
          <a:p>
            <a:fld id="{CC1DC70D-D35E-4990-BE46-0D6FC2250EB4}"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12E6CBC4-FF0D-46CB-A5F5-3E151FC95A25}" type="datetime1">
              <a:rPr lang="en-US" smtClean="0"/>
              <a:t>10/29/2024</a:t>
            </a:fld>
            <a:endParaRPr lang="en-US"/>
          </a:p>
        </p:txBody>
      </p:sp>
      <p:sp>
        <p:nvSpPr>
          <p:cNvPr id="6" name="Slide Number Placeholder 5"/>
          <p:cNvSpPr>
            <a:spLocks noGrp="1"/>
          </p:cNvSpPr>
          <p:nvPr>
            <p:ph type="sldNum" sz="quarter" idx="11"/>
          </p:nvPr>
        </p:nvSpPr>
        <p:spPr/>
        <p:txBody>
          <a:bodyPr/>
          <a:lstStyle>
            <a:lvl1pPr>
              <a:defRPr/>
            </a:lvl1pPr>
          </a:lstStyle>
          <a:p>
            <a:fld id="{AB1365D0-4E88-4A39-AC81-3460AD5E49A3}"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235DCD4-98E7-4678-B9E8-6D5484E32382}" type="datetime1">
              <a:rPr lang="en-US" smtClean="0"/>
              <a:t>10/29/2024</a:t>
            </a:fld>
            <a:endParaRPr lang="en-US"/>
          </a:p>
        </p:txBody>
      </p:sp>
      <p:sp>
        <p:nvSpPr>
          <p:cNvPr id="5" name="Slide Number Placeholder 4"/>
          <p:cNvSpPr>
            <a:spLocks noGrp="1"/>
          </p:cNvSpPr>
          <p:nvPr>
            <p:ph type="sldNum" sz="quarter" idx="11"/>
          </p:nvPr>
        </p:nvSpPr>
        <p:spPr/>
        <p:txBody>
          <a:bodyPr/>
          <a:lstStyle>
            <a:lvl1pPr>
              <a:defRPr/>
            </a:lvl1pPr>
          </a:lstStyle>
          <a:p>
            <a:fld id="{44CF05AE-DE1E-4A38-B827-63096B99CED4}"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72275" y="0"/>
            <a:ext cx="2066925" cy="59912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71500" y="0"/>
            <a:ext cx="6048375" cy="59912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1B0CE57A-4168-43A4-B43F-55764009692F}" type="datetime1">
              <a:rPr lang="en-US" smtClean="0"/>
              <a:t>10/29/2024</a:t>
            </a:fld>
            <a:endParaRPr lang="en-US"/>
          </a:p>
        </p:txBody>
      </p:sp>
      <p:sp>
        <p:nvSpPr>
          <p:cNvPr id="5" name="Slide Number Placeholder 4"/>
          <p:cNvSpPr>
            <a:spLocks noGrp="1"/>
          </p:cNvSpPr>
          <p:nvPr>
            <p:ph type="sldNum" sz="quarter" idx="11"/>
          </p:nvPr>
        </p:nvSpPr>
        <p:spPr/>
        <p:txBody>
          <a:bodyPr/>
          <a:lstStyle>
            <a:lvl1pPr>
              <a:defRPr/>
            </a:lvl1pPr>
          </a:lstStyle>
          <a:p>
            <a:fld id="{6CFC0C1D-6E4C-4DA3-918E-890FE169730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76078"/>
                <a:invGamma/>
              </a:schemeClr>
            </a:gs>
          </a:gsLst>
          <a:lin ang="5400000" scaled="1"/>
        </a:gradFill>
        <a:effectLst/>
      </p:bgPr>
    </p:bg>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0" y="-152400"/>
            <a:ext cx="9144000" cy="1314450"/>
          </a:xfrm>
          <a:prstGeom prst="rect">
            <a:avLst/>
          </a:prstGeom>
          <a:gradFill rotWithShape="0">
            <a:gsLst>
              <a:gs pos="0">
                <a:srgbClr val="FFFFFF"/>
              </a:gs>
              <a:gs pos="100000">
                <a:schemeClr val="bg1"/>
              </a:gs>
            </a:gsLst>
            <a:lin ang="5400000" scaled="1"/>
          </a:gradFill>
          <a:ln w="9525">
            <a:noFill/>
            <a:miter lim="800000"/>
            <a:headEnd/>
            <a:tailEnd/>
          </a:ln>
          <a:effectLst/>
        </p:spPr>
        <p:txBody>
          <a:bodyPr wrap="none" anchor="ctr"/>
          <a:lstStyle/>
          <a:p>
            <a:endParaRPr lang="en-US"/>
          </a:p>
        </p:txBody>
      </p:sp>
      <p:sp>
        <p:nvSpPr>
          <p:cNvPr id="62467" name="Rectangle 3"/>
          <p:cNvSpPr>
            <a:spLocks noGrp="1" noChangeArrowheads="1"/>
          </p:cNvSpPr>
          <p:nvPr>
            <p:ph type="body" idx="1"/>
          </p:nvPr>
        </p:nvSpPr>
        <p:spPr bwMode="auto">
          <a:xfrm>
            <a:off x="571500" y="1114425"/>
            <a:ext cx="78486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246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spcBef>
                <a:spcPct val="50000"/>
              </a:spcBef>
              <a:defRPr sz="1400">
                <a:solidFill>
                  <a:schemeClr val="bg2"/>
                </a:solidFill>
                <a:latin typeface="Times New Roman" pitchFamily="18" charset="0"/>
              </a:defRPr>
            </a:lvl1pPr>
          </a:lstStyle>
          <a:p>
            <a:fld id="{91F453D3-E7C9-4E05-ABE0-343E196B83B0}" type="datetime1">
              <a:rPr lang="en-US" smtClean="0"/>
              <a:t>10/29/2024</a:t>
            </a:fld>
            <a:endParaRPr lang="en-US"/>
          </a:p>
        </p:txBody>
      </p:sp>
      <p:sp>
        <p:nvSpPr>
          <p:cNvPr id="62469" name="Rectangle 5"/>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chemeClr val="bg2"/>
                </a:solidFill>
                <a:latin typeface="Times New Roman" pitchFamily="18" charset="0"/>
              </a:defRPr>
            </a:lvl1pPr>
          </a:lstStyle>
          <a:p>
            <a:fld id="{38A25C51-9860-4D58-9BC9-037327F4B7A2}" type="slidenum">
              <a:rPr lang="en-US"/>
              <a:pPr/>
              <a:t>‹#›</a:t>
            </a:fld>
            <a:endParaRPr lang="en-US"/>
          </a:p>
        </p:txBody>
      </p:sp>
      <p:sp>
        <p:nvSpPr>
          <p:cNvPr id="62470" name="Oval 6"/>
          <p:cNvSpPr>
            <a:spLocks noChangeArrowheads="1"/>
          </p:cNvSpPr>
          <p:nvPr/>
        </p:nvSpPr>
        <p:spPr bwMode="ltGray">
          <a:xfrm>
            <a:off x="142875" y="0"/>
            <a:ext cx="838200" cy="781050"/>
          </a:xfrm>
          <a:prstGeom prst="ellipse">
            <a:avLst/>
          </a:prstGeom>
          <a:gradFill rotWithShape="0">
            <a:gsLst>
              <a:gs pos="0">
                <a:schemeClr val="hlink"/>
              </a:gs>
              <a:gs pos="100000">
                <a:schemeClr val="hlink">
                  <a:gamma/>
                  <a:tint val="70196"/>
                  <a:invGamma/>
                </a:schemeClr>
              </a:gs>
            </a:gsLst>
            <a:lin ang="5400000" scaled="1"/>
          </a:gradFill>
          <a:ln w="9525">
            <a:noFill/>
            <a:round/>
            <a:headEnd/>
            <a:tailEnd/>
          </a:ln>
          <a:effectLst/>
        </p:spPr>
        <p:txBody>
          <a:bodyPr wrap="none" anchor="ctr"/>
          <a:lstStyle/>
          <a:p>
            <a:endParaRPr lang="en-US"/>
          </a:p>
        </p:txBody>
      </p:sp>
      <p:sp>
        <p:nvSpPr>
          <p:cNvPr id="62471" name="Freeform 7"/>
          <p:cNvSpPr>
            <a:spLocks/>
          </p:cNvSpPr>
          <p:nvPr/>
        </p:nvSpPr>
        <p:spPr bwMode="auto">
          <a:xfrm>
            <a:off x="31750" y="338138"/>
            <a:ext cx="390525" cy="149225"/>
          </a:xfrm>
          <a:custGeom>
            <a:avLst/>
            <a:gdLst/>
            <a:ahLst/>
            <a:cxnLst>
              <a:cxn ang="0">
                <a:pos x="7" y="52"/>
              </a:cxn>
              <a:cxn ang="0">
                <a:pos x="22" y="48"/>
              </a:cxn>
              <a:cxn ang="0">
                <a:pos x="38" y="48"/>
              </a:cxn>
              <a:cxn ang="0">
                <a:pos x="53" y="50"/>
              </a:cxn>
              <a:cxn ang="0">
                <a:pos x="69" y="54"/>
              </a:cxn>
              <a:cxn ang="0">
                <a:pos x="84" y="59"/>
              </a:cxn>
              <a:cxn ang="0">
                <a:pos x="99" y="65"/>
              </a:cxn>
              <a:cxn ang="0">
                <a:pos x="113" y="72"/>
              </a:cxn>
              <a:cxn ang="0">
                <a:pos x="124" y="66"/>
              </a:cxn>
              <a:cxn ang="0">
                <a:pos x="136" y="48"/>
              </a:cxn>
              <a:cxn ang="0">
                <a:pos x="150" y="35"/>
              </a:cxn>
              <a:cxn ang="0">
                <a:pos x="166" y="24"/>
              </a:cxn>
              <a:cxn ang="0">
                <a:pos x="183" y="16"/>
              </a:cxn>
              <a:cxn ang="0">
                <a:pos x="201" y="9"/>
              </a:cxn>
              <a:cxn ang="0">
                <a:pos x="219" y="5"/>
              </a:cxn>
              <a:cxn ang="0">
                <a:pos x="237" y="1"/>
              </a:cxn>
              <a:cxn ang="0">
                <a:pos x="237" y="3"/>
              </a:cxn>
              <a:cxn ang="0">
                <a:pos x="222" y="11"/>
              </a:cxn>
              <a:cxn ang="0">
                <a:pos x="207" y="19"/>
              </a:cxn>
              <a:cxn ang="0">
                <a:pos x="191" y="28"/>
              </a:cxn>
              <a:cxn ang="0">
                <a:pos x="177" y="39"/>
              </a:cxn>
              <a:cxn ang="0">
                <a:pos x="163" y="51"/>
              </a:cxn>
              <a:cxn ang="0">
                <a:pos x="152" y="64"/>
              </a:cxn>
              <a:cxn ang="0">
                <a:pos x="142" y="79"/>
              </a:cxn>
              <a:cxn ang="0">
                <a:pos x="135" y="90"/>
              </a:cxn>
              <a:cxn ang="0">
                <a:pos x="130" y="93"/>
              </a:cxn>
              <a:cxn ang="0">
                <a:pos x="123" y="90"/>
              </a:cxn>
              <a:cxn ang="0">
                <a:pos x="116" y="87"/>
              </a:cxn>
              <a:cxn ang="0">
                <a:pos x="107" y="84"/>
              </a:cxn>
              <a:cxn ang="0">
                <a:pos x="93" y="78"/>
              </a:cxn>
              <a:cxn ang="0">
                <a:pos x="79" y="71"/>
              </a:cxn>
              <a:cxn ang="0">
                <a:pos x="63" y="64"/>
              </a:cxn>
              <a:cxn ang="0">
                <a:pos x="47" y="58"/>
              </a:cxn>
              <a:cxn ang="0">
                <a:pos x="31" y="54"/>
              </a:cxn>
              <a:cxn ang="0">
                <a:pos x="17" y="52"/>
              </a:cxn>
              <a:cxn ang="0">
                <a:pos x="5" y="53"/>
              </a:cxn>
            </a:cxnLst>
            <a:rect l="0" t="0" r="r" b="b"/>
            <a:pathLst>
              <a:path w="246" h="94">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tx1"/>
          </a:solidFill>
          <a:ln w="9525" cap="rnd">
            <a:noFill/>
            <a:round/>
            <a:headEnd/>
            <a:tailEnd/>
          </a:ln>
          <a:effectLst/>
        </p:spPr>
        <p:txBody>
          <a:bodyPr/>
          <a:lstStyle/>
          <a:p>
            <a:endParaRPr lang="en-US"/>
          </a:p>
        </p:txBody>
      </p:sp>
      <p:sp>
        <p:nvSpPr>
          <p:cNvPr id="62472" name="Freeform 8"/>
          <p:cNvSpPr>
            <a:spLocks/>
          </p:cNvSpPr>
          <p:nvPr/>
        </p:nvSpPr>
        <p:spPr bwMode="auto">
          <a:xfrm>
            <a:off x="619125" y="638175"/>
            <a:ext cx="468313" cy="177800"/>
          </a:xfrm>
          <a:custGeom>
            <a:avLst/>
            <a:gdLst/>
            <a:ahLst/>
            <a:cxnLst>
              <a:cxn ang="0">
                <a:pos x="8" y="62"/>
              </a:cxn>
              <a:cxn ang="0">
                <a:pos x="26" y="57"/>
              </a:cxn>
              <a:cxn ang="0">
                <a:pos x="45" y="57"/>
              </a:cxn>
              <a:cxn ang="0">
                <a:pos x="63" y="59"/>
              </a:cxn>
              <a:cxn ang="0">
                <a:pos x="82" y="64"/>
              </a:cxn>
              <a:cxn ang="0">
                <a:pos x="100" y="70"/>
              </a:cxn>
              <a:cxn ang="0">
                <a:pos x="118" y="77"/>
              </a:cxn>
              <a:cxn ang="0">
                <a:pos x="135" y="85"/>
              </a:cxn>
              <a:cxn ang="0">
                <a:pos x="148" y="78"/>
              </a:cxn>
              <a:cxn ang="0">
                <a:pos x="163" y="57"/>
              </a:cxn>
              <a:cxn ang="0">
                <a:pos x="180" y="41"/>
              </a:cxn>
              <a:cxn ang="0">
                <a:pos x="199" y="28"/>
              </a:cxn>
              <a:cxn ang="0">
                <a:pos x="219" y="19"/>
              </a:cxn>
              <a:cxn ang="0">
                <a:pos x="241" y="10"/>
              </a:cxn>
              <a:cxn ang="0">
                <a:pos x="262" y="5"/>
              </a:cxn>
              <a:cxn ang="0">
                <a:pos x="284" y="1"/>
              </a:cxn>
              <a:cxn ang="0">
                <a:pos x="284" y="3"/>
              </a:cxn>
              <a:cxn ang="0">
                <a:pos x="266" y="13"/>
              </a:cxn>
              <a:cxn ang="0">
                <a:pos x="248" y="22"/>
              </a:cxn>
              <a:cxn ang="0">
                <a:pos x="229" y="33"/>
              </a:cxn>
              <a:cxn ang="0">
                <a:pos x="212" y="46"/>
              </a:cxn>
              <a:cxn ang="0">
                <a:pos x="195" y="60"/>
              </a:cxn>
              <a:cxn ang="0">
                <a:pos x="182" y="76"/>
              </a:cxn>
              <a:cxn ang="0">
                <a:pos x="170" y="94"/>
              </a:cxn>
              <a:cxn ang="0">
                <a:pos x="162" y="107"/>
              </a:cxn>
              <a:cxn ang="0">
                <a:pos x="156" y="111"/>
              </a:cxn>
              <a:cxn ang="0">
                <a:pos x="147" y="107"/>
              </a:cxn>
              <a:cxn ang="0">
                <a:pos x="139" y="103"/>
              </a:cxn>
              <a:cxn ang="0">
                <a:pos x="128" y="100"/>
              </a:cxn>
              <a:cxn ang="0">
                <a:pos x="111" y="93"/>
              </a:cxn>
              <a:cxn ang="0">
                <a:pos x="94" y="84"/>
              </a:cxn>
              <a:cxn ang="0">
                <a:pos x="75" y="76"/>
              </a:cxn>
              <a:cxn ang="0">
                <a:pos x="56" y="69"/>
              </a:cxn>
              <a:cxn ang="0">
                <a:pos x="37" y="64"/>
              </a:cxn>
              <a:cxn ang="0">
                <a:pos x="20" y="62"/>
              </a:cxn>
              <a:cxn ang="0">
                <a:pos x="6" y="63"/>
              </a:cxn>
            </a:cxnLst>
            <a:rect l="0" t="0" r="r" b="b"/>
            <a:pathLst>
              <a:path w="295" h="112">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tx1"/>
          </a:solidFill>
          <a:ln w="9525" cap="rnd">
            <a:noFill/>
            <a:round/>
            <a:headEnd/>
            <a:tailEnd/>
          </a:ln>
          <a:effectLst/>
        </p:spPr>
        <p:txBody>
          <a:bodyPr/>
          <a:lstStyle/>
          <a:p>
            <a:endParaRPr lang="en-US"/>
          </a:p>
        </p:txBody>
      </p:sp>
      <p:sp>
        <p:nvSpPr>
          <p:cNvPr id="62473" name="Freeform 9"/>
          <p:cNvSpPr>
            <a:spLocks/>
          </p:cNvSpPr>
          <p:nvPr/>
        </p:nvSpPr>
        <p:spPr bwMode="auto">
          <a:xfrm>
            <a:off x="7515225" y="6257925"/>
            <a:ext cx="1524000" cy="533400"/>
          </a:xfrm>
          <a:custGeom>
            <a:avLst/>
            <a:gdLst/>
            <a:ahLst/>
            <a:cxnLst>
              <a:cxn ang="0">
                <a:pos x="285" y="7"/>
              </a:cxn>
              <a:cxn ang="0">
                <a:pos x="234" y="15"/>
              </a:cxn>
              <a:cxn ang="0">
                <a:pos x="184" y="52"/>
              </a:cxn>
              <a:cxn ang="0">
                <a:pos x="133" y="82"/>
              </a:cxn>
              <a:cxn ang="0">
                <a:pos x="83" y="89"/>
              </a:cxn>
              <a:cxn ang="0">
                <a:pos x="34" y="104"/>
              </a:cxn>
              <a:cxn ang="0">
                <a:pos x="0" y="141"/>
              </a:cxn>
              <a:cxn ang="0">
                <a:pos x="0" y="186"/>
              </a:cxn>
              <a:cxn ang="0">
                <a:pos x="17" y="231"/>
              </a:cxn>
              <a:cxn ang="0">
                <a:pos x="66" y="238"/>
              </a:cxn>
              <a:cxn ang="0">
                <a:pos x="117" y="223"/>
              </a:cxn>
              <a:cxn ang="0">
                <a:pos x="159" y="238"/>
              </a:cxn>
              <a:cxn ang="0">
                <a:pos x="201" y="283"/>
              </a:cxn>
              <a:cxn ang="0">
                <a:pos x="251" y="313"/>
              </a:cxn>
              <a:cxn ang="0">
                <a:pos x="310" y="313"/>
              </a:cxn>
              <a:cxn ang="0">
                <a:pos x="361" y="305"/>
              </a:cxn>
              <a:cxn ang="0">
                <a:pos x="411" y="328"/>
              </a:cxn>
              <a:cxn ang="0">
                <a:pos x="461" y="357"/>
              </a:cxn>
              <a:cxn ang="0">
                <a:pos x="536" y="365"/>
              </a:cxn>
              <a:cxn ang="0">
                <a:pos x="654" y="365"/>
              </a:cxn>
              <a:cxn ang="0">
                <a:pos x="704" y="357"/>
              </a:cxn>
              <a:cxn ang="0">
                <a:pos x="755" y="350"/>
              </a:cxn>
              <a:cxn ang="0">
                <a:pos x="805" y="335"/>
              </a:cxn>
              <a:cxn ang="0">
                <a:pos x="855" y="328"/>
              </a:cxn>
              <a:cxn ang="0">
                <a:pos x="906" y="335"/>
              </a:cxn>
              <a:cxn ang="0">
                <a:pos x="956" y="350"/>
              </a:cxn>
              <a:cxn ang="0">
                <a:pos x="1040" y="365"/>
              </a:cxn>
              <a:cxn ang="0">
                <a:pos x="1133" y="365"/>
              </a:cxn>
              <a:cxn ang="0">
                <a:pos x="1217" y="357"/>
              </a:cxn>
              <a:cxn ang="0">
                <a:pos x="1267" y="328"/>
              </a:cxn>
              <a:cxn ang="0">
                <a:pos x="1325" y="298"/>
              </a:cxn>
              <a:cxn ang="0">
                <a:pos x="1376" y="283"/>
              </a:cxn>
              <a:cxn ang="0">
                <a:pos x="1426" y="275"/>
              </a:cxn>
              <a:cxn ang="0">
                <a:pos x="1443" y="254"/>
              </a:cxn>
              <a:cxn ang="0">
                <a:pos x="1417" y="208"/>
              </a:cxn>
              <a:cxn ang="0">
                <a:pos x="1443" y="164"/>
              </a:cxn>
              <a:cxn ang="0">
                <a:pos x="1443" y="119"/>
              </a:cxn>
              <a:cxn ang="0">
                <a:pos x="1400" y="82"/>
              </a:cxn>
              <a:cxn ang="0">
                <a:pos x="1351" y="82"/>
              </a:cxn>
              <a:cxn ang="0">
                <a:pos x="1301" y="82"/>
              </a:cxn>
              <a:cxn ang="0">
                <a:pos x="1250" y="74"/>
              </a:cxn>
              <a:cxn ang="0">
                <a:pos x="1200" y="67"/>
              </a:cxn>
              <a:cxn ang="0">
                <a:pos x="1150" y="74"/>
              </a:cxn>
              <a:cxn ang="0">
                <a:pos x="1107" y="59"/>
              </a:cxn>
              <a:cxn ang="0">
                <a:pos x="1057" y="30"/>
              </a:cxn>
              <a:cxn ang="0">
                <a:pos x="1006" y="22"/>
              </a:cxn>
              <a:cxn ang="0">
                <a:pos x="948" y="7"/>
              </a:cxn>
              <a:cxn ang="0">
                <a:pos x="898" y="22"/>
              </a:cxn>
              <a:cxn ang="0">
                <a:pos x="847" y="30"/>
              </a:cxn>
              <a:cxn ang="0">
                <a:pos x="797" y="30"/>
              </a:cxn>
              <a:cxn ang="0">
                <a:pos x="747" y="22"/>
              </a:cxn>
              <a:cxn ang="0">
                <a:pos x="696" y="7"/>
              </a:cxn>
              <a:cxn ang="0">
                <a:pos x="646" y="7"/>
              </a:cxn>
              <a:cxn ang="0">
                <a:pos x="596" y="22"/>
              </a:cxn>
              <a:cxn ang="0">
                <a:pos x="545" y="30"/>
              </a:cxn>
              <a:cxn ang="0">
                <a:pos x="486" y="7"/>
              </a:cxn>
              <a:cxn ang="0">
                <a:pos x="436" y="0"/>
              </a:cxn>
              <a:cxn ang="0">
                <a:pos x="385" y="0"/>
              </a:cxn>
              <a:cxn ang="0">
                <a:pos x="319" y="12"/>
              </a:cxn>
              <a:cxn ang="0">
                <a:pos x="268" y="59"/>
              </a:cxn>
              <a:cxn ang="0">
                <a:pos x="234" y="74"/>
              </a:cxn>
              <a:cxn ang="0">
                <a:pos x="217" y="57"/>
              </a:cxn>
            </a:cxnLst>
            <a:rect l="0" t="0" r="r" b="b"/>
            <a:pathLst>
              <a:path w="1453" h="374">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rotWithShape="0">
            <a:gsLst>
              <a:gs pos="0">
                <a:srgbClr val="CC9900">
                  <a:gamma/>
                  <a:tint val="20392"/>
                  <a:invGamma/>
                </a:srgbClr>
              </a:gs>
              <a:gs pos="100000">
                <a:srgbClr val="CC9900"/>
              </a:gs>
            </a:gsLst>
            <a:lin ang="5400000" scaled="1"/>
          </a:gradFill>
          <a:ln w="12700" cap="rnd" cmpd="sng">
            <a:solidFill>
              <a:srgbClr val="996633"/>
            </a:solidFill>
            <a:prstDash val="solid"/>
            <a:round/>
            <a:headEnd type="none" w="sm" len="sm"/>
            <a:tailEnd type="none" w="sm" len="sm"/>
          </a:ln>
          <a:effectLst/>
        </p:spPr>
        <p:txBody>
          <a:bodyPr/>
          <a:lstStyle/>
          <a:p>
            <a:endParaRPr lang="en-US"/>
          </a:p>
        </p:txBody>
      </p:sp>
      <p:grpSp>
        <p:nvGrpSpPr>
          <p:cNvPr id="62474" name="Group 10"/>
          <p:cNvGrpSpPr>
            <a:grpSpLocks/>
          </p:cNvGrpSpPr>
          <p:nvPr/>
        </p:nvGrpSpPr>
        <p:grpSpPr bwMode="auto">
          <a:xfrm>
            <a:off x="7620000" y="5076825"/>
            <a:ext cx="1371600" cy="1600200"/>
            <a:chOff x="0" y="3182"/>
            <a:chExt cx="808" cy="998"/>
          </a:xfrm>
        </p:grpSpPr>
        <p:grpSp>
          <p:nvGrpSpPr>
            <p:cNvPr id="62475" name="Group 11"/>
            <p:cNvGrpSpPr>
              <a:grpSpLocks/>
            </p:cNvGrpSpPr>
            <p:nvPr/>
          </p:nvGrpSpPr>
          <p:grpSpPr bwMode="auto">
            <a:xfrm>
              <a:off x="0" y="3182"/>
              <a:ext cx="506" cy="927"/>
              <a:chOff x="1685" y="1023"/>
              <a:chExt cx="506" cy="927"/>
            </a:xfrm>
          </p:grpSpPr>
          <p:sp>
            <p:nvSpPr>
              <p:cNvPr id="62476" name="Freeform 12"/>
              <p:cNvSpPr>
                <a:spLocks/>
              </p:cNvSpPr>
              <p:nvPr/>
            </p:nvSpPr>
            <p:spPr bwMode="ltGray">
              <a:xfrm>
                <a:off x="1733" y="1329"/>
                <a:ext cx="76" cy="621"/>
              </a:xfrm>
              <a:custGeom>
                <a:avLst/>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0" t="0" r="r" b="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000"/>
                </a:srgbClr>
              </a:solidFill>
              <a:ln w="9525" cap="rnd">
                <a:noFill/>
                <a:round/>
                <a:headEnd/>
                <a:tailEnd/>
              </a:ln>
              <a:effectLst/>
            </p:spPr>
            <p:txBody>
              <a:bodyPr/>
              <a:lstStyle/>
              <a:p>
                <a:endParaRPr lang="en-US"/>
              </a:p>
            </p:txBody>
          </p:sp>
          <p:sp>
            <p:nvSpPr>
              <p:cNvPr id="62477" name="Freeform 13"/>
              <p:cNvSpPr>
                <a:spLocks/>
              </p:cNvSpPr>
              <p:nvPr/>
            </p:nvSpPr>
            <p:spPr bwMode="ltGray">
              <a:xfrm>
                <a:off x="1790" y="1583"/>
                <a:ext cx="120" cy="349"/>
              </a:xfrm>
              <a:custGeom>
                <a:avLst/>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0" t="0" r="r" b="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000"/>
                </a:srgbClr>
              </a:solidFill>
              <a:ln w="9525" cap="rnd">
                <a:noFill/>
                <a:round/>
                <a:headEnd/>
                <a:tailEnd/>
              </a:ln>
              <a:effectLst/>
            </p:spPr>
            <p:txBody>
              <a:bodyPr/>
              <a:lstStyle/>
              <a:p>
                <a:endParaRPr lang="en-US"/>
              </a:p>
            </p:txBody>
          </p:sp>
          <p:sp>
            <p:nvSpPr>
              <p:cNvPr id="62478" name="Freeform 14"/>
              <p:cNvSpPr>
                <a:spLocks/>
              </p:cNvSpPr>
              <p:nvPr/>
            </p:nvSpPr>
            <p:spPr bwMode="ltGray">
              <a:xfrm>
                <a:off x="1685" y="1239"/>
                <a:ext cx="266" cy="391"/>
              </a:xfrm>
              <a:custGeom>
                <a:avLst/>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0" t="0" r="r" b="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44"/>
                    </a:lnTo>
                    <a:lnTo>
                      <a:pt x="2" y="364"/>
                    </a:lnTo>
                    <a:lnTo>
                      <a:pt x="2" y="344"/>
                    </a:lnTo>
                    <a:lnTo>
                      <a:pt x="2" y="344"/>
                    </a:lnTo>
                    <a:lnTo>
                      <a:pt x="2" y="344"/>
                    </a:lnTo>
                    <a:lnTo>
                      <a:pt x="2" y="344"/>
                    </a:lnTo>
                    <a:lnTo>
                      <a:pt x="2" y="32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84"/>
                    </a:lnTo>
                    <a:lnTo>
                      <a:pt x="2" y="164"/>
                    </a:lnTo>
                    <a:lnTo>
                      <a:pt x="2" y="184"/>
                    </a:lnTo>
                    <a:lnTo>
                      <a:pt x="2" y="184"/>
                    </a:lnTo>
                    <a:lnTo>
                      <a:pt x="2" y="184"/>
                    </a:lnTo>
                    <a:lnTo>
                      <a:pt x="2" y="184"/>
                    </a:lnTo>
                    <a:lnTo>
                      <a:pt x="2" y="184"/>
                    </a:lnTo>
                    <a:lnTo>
                      <a:pt x="2" y="184"/>
                    </a:lnTo>
                    <a:lnTo>
                      <a:pt x="2" y="184"/>
                    </a:lnTo>
                    <a:lnTo>
                      <a:pt x="2" y="184"/>
                    </a:lnTo>
                    <a:lnTo>
                      <a:pt x="2" y="18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65"/>
                    </a:lnTo>
                    <a:lnTo>
                      <a:pt x="2" y="65"/>
                    </a:lnTo>
                    <a:lnTo>
                      <a:pt x="2" y="65"/>
                    </a:lnTo>
                    <a:lnTo>
                      <a:pt x="2" y="44"/>
                    </a:lnTo>
                    <a:lnTo>
                      <a:pt x="2" y="65"/>
                    </a:lnTo>
                    <a:lnTo>
                      <a:pt x="2" y="65"/>
                    </a:lnTo>
                    <a:lnTo>
                      <a:pt x="2" y="65"/>
                    </a:lnTo>
                    <a:lnTo>
                      <a:pt x="2" y="44"/>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000"/>
                </a:srgbClr>
              </a:solidFill>
              <a:ln w="9525" cap="rnd">
                <a:noFill/>
                <a:round/>
                <a:headEnd/>
                <a:tailEnd/>
              </a:ln>
              <a:effectLst/>
            </p:spPr>
            <p:txBody>
              <a:bodyPr/>
              <a:lstStyle/>
              <a:p>
                <a:endParaRPr lang="en-US"/>
              </a:p>
            </p:txBody>
          </p:sp>
          <p:grpSp>
            <p:nvGrpSpPr>
              <p:cNvPr id="62479" name="Group 15"/>
              <p:cNvGrpSpPr>
                <a:grpSpLocks/>
              </p:cNvGrpSpPr>
              <p:nvPr/>
            </p:nvGrpSpPr>
            <p:grpSpPr bwMode="auto">
              <a:xfrm>
                <a:off x="1707" y="1466"/>
                <a:ext cx="484" cy="368"/>
                <a:chOff x="1707" y="1466"/>
                <a:chExt cx="484" cy="368"/>
              </a:xfrm>
            </p:grpSpPr>
            <p:sp>
              <p:nvSpPr>
                <p:cNvPr id="62480" name="Freeform 16"/>
                <p:cNvSpPr>
                  <a:spLocks/>
                </p:cNvSpPr>
                <p:nvPr/>
              </p:nvSpPr>
              <p:spPr bwMode="ltGray">
                <a:xfrm>
                  <a:off x="1751" y="1466"/>
                  <a:ext cx="440" cy="342"/>
                </a:xfrm>
                <a:custGeom>
                  <a:avLst/>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0" t="0" r="r" b="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000"/>
                  </a:srgbClr>
                </a:solidFill>
                <a:ln w="9525" cap="rnd">
                  <a:noFill/>
                  <a:round/>
                  <a:headEnd/>
                  <a:tailEnd/>
                </a:ln>
                <a:effectLst/>
              </p:spPr>
              <p:txBody>
                <a:bodyPr/>
                <a:lstStyle/>
                <a:p>
                  <a:endParaRPr lang="en-US"/>
                </a:p>
              </p:txBody>
            </p:sp>
            <p:sp>
              <p:nvSpPr>
                <p:cNvPr id="62481" name="Freeform 17"/>
                <p:cNvSpPr>
                  <a:spLocks/>
                </p:cNvSpPr>
                <p:nvPr/>
              </p:nvSpPr>
              <p:spPr bwMode="ltGray">
                <a:xfrm>
                  <a:off x="1900" y="1641"/>
                  <a:ext cx="39" cy="193"/>
                </a:xfrm>
                <a:custGeom>
                  <a:avLst/>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0" t="0" r="r" b="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000"/>
                  </a:srgbClr>
                </a:solidFill>
                <a:ln w="9525" cap="rnd">
                  <a:noFill/>
                  <a:round/>
                  <a:headEnd/>
                  <a:tailEnd/>
                </a:ln>
                <a:effectLst/>
              </p:spPr>
              <p:txBody>
                <a:bodyPr/>
                <a:lstStyle/>
                <a:p>
                  <a:endParaRPr lang="en-US"/>
                </a:p>
              </p:txBody>
            </p:sp>
            <p:sp>
              <p:nvSpPr>
                <p:cNvPr id="62482" name="Freeform 18"/>
                <p:cNvSpPr>
                  <a:spLocks/>
                </p:cNvSpPr>
                <p:nvPr/>
              </p:nvSpPr>
              <p:spPr bwMode="ltGray">
                <a:xfrm>
                  <a:off x="1716" y="1535"/>
                  <a:ext cx="171" cy="50"/>
                </a:xfrm>
                <a:custGeom>
                  <a:avLst/>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0" t="0" r="r" b="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000"/>
                  </a:srgbClr>
                </a:solidFill>
                <a:ln w="9525" cap="rnd">
                  <a:noFill/>
                  <a:round/>
                  <a:headEnd/>
                  <a:tailEnd/>
                </a:ln>
                <a:effectLst/>
              </p:spPr>
              <p:txBody>
                <a:bodyPr/>
                <a:lstStyle/>
                <a:p>
                  <a:endParaRPr lang="en-US"/>
                </a:p>
              </p:txBody>
            </p:sp>
            <p:sp>
              <p:nvSpPr>
                <p:cNvPr id="62483" name="Freeform 19"/>
                <p:cNvSpPr>
                  <a:spLocks/>
                </p:cNvSpPr>
                <p:nvPr/>
              </p:nvSpPr>
              <p:spPr bwMode="ltGray">
                <a:xfrm>
                  <a:off x="1707" y="1563"/>
                  <a:ext cx="177" cy="21"/>
                </a:xfrm>
                <a:custGeom>
                  <a:avLst/>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0" t="0" r="r" b="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000"/>
                  </a:srgbClr>
                </a:solidFill>
                <a:ln w="9525" cap="rnd">
                  <a:noFill/>
                  <a:round/>
                  <a:headEnd/>
                  <a:tailEnd/>
                </a:ln>
                <a:effectLst/>
              </p:spPr>
              <p:txBody>
                <a:bodyPr/>
                <a:lstStyle/>
                <a:p>
                  <a:endParaRPr lang="en-US"/>
                </a:p>
              </p:txBody>
            </p:sp>
          </p:grpSp>
          <p:sp>
            <p:nvSpPr>
              <p:cNvPr id="62484" name="Freeform 20"/>
              <p:cNvSpPr>
                <a:spLocks/>
              </p:cNvSpPr>
              <p:nvPr/>
            </p:nvSpPr>
            <p:spPr bwMode="ltGray">
              <a:xfrm>
                <a:off x="1691" y="1023"/>
                <a:ext cx="261" cy="374"/>
              </a:xfrm>
              <a:custGeom>
                <a:avLst/>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0" t="0" r="r" b="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000"/>
                </a:srgbClr>
              </a:solidFill>
              <a:ln w="9525" cap="rnd">
                <a:noFill/>
                <a:round/>
                <a:headEnd/>
                <a:tailEnd/>
              </a:ln>
              <a:effectLst/>
            </p:spPr>
            <p:txBody>
              <a:bodyPr/>
              <a:lstStyle/>
              <a:p>
                <a:endParaRPr lang="en-US"/>
              </a:p>
            </p:txBody>
          </p:sp>
        </p:grpSp>
        <p:grpSp>
          <p:nvGrpSpPr>
            <p:cNvPr id="62485" name="Group 21"/>
            <p:cNvGrpSpPr>
              <a:grpSpLocks/>
            </p:cNvGrpSpPr>
            <p:nvPr/>
          </p:nvGrpSpPr>
          <p:grpSpPr bwMode="auto">
            <a:xfrm>
              <a:off x="300" y="3360"/>
              <a:ext cx="508" cy="820"/>
              <a:chOff x="1985" y="1201"/>
              <a:chExt cx="508" cy="820"/>
            </a:xfrm>
          </p:grpSpPr>
          <p:grpSp>
            <p:nvGrpSpPr>
              <p:cNvPr id="62486" name="Group 22"/>
              <p:cNvGrpSpPr>
                <a:grpSpLocks/>
              </p:cNvGrpSpPr>
              <p:nvPr/>
            </p:nvGrpSpPr>
            <p:grpSpPr bwMode="auto">
              <a:xfrm>
                <a:off x="2247" y="1201"/>
                <a:ext cx="246" cy="810"/>
                <a:chOff x="2247" y="1201"/>
                <a:chExt cx="246" cy="810"/>
              </a:xfrm>
            </p:grpSpPr>
            <p:sp>
              <p:nvSpPr>
                <p:cNvPr id="62487" name="Freeform 23"/>
                <p:cNvSpPr>
                  <a:spLocks/>
                </p:cNvSpPr>
                <p:nvPr/>
              </p:nvSpPr>
              <p:spPr bwMode="ltGray">
                <a:xfrm>
                  <a:off x="2392" y="1373"/>
                  <a:ext cx="92" cy="638"/>
                </a:xfrm>
                <a:custGeom>
                  <a:avLst/>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0" t="0" r="r" b="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000"/>
                  </a:srgbClr>
                </a:solidFill>
                <a:ln w="9525" cap="rnd">
                  <a:noFill/>
                  <a:round/>
                  <a:headEnd/>
                  <a:tailEnd/>
                </a:ln>
                <a:effectLst/>
              </p:spPr>
              <p:txBody>
                <a:bodyPr/>
                <a:lstStyle/>
                <a:p>
                  <a:endParaRPr lang="en-US"/>
                </a:p>
              </p:txBody>
            </p:sp>
            <p:sp>
              <p:nvSpPr>
                <p:cNvPr id="62488" name="Freeform 24"/>
                <p:cNvSpPr>
                  <a:spLocks/>
                </p:cNvSpPr>
                <p:nvPr/>
              </p:nvSpPr>
              <p:spPr bwMode="ltGray">
                <a:xfrm>
                  <a:off x="2247" y="1201"/>
                  <a:ext cx="246" cy="466"/>
                </a:xfrm>
                <a:custGeom>
                  <a:avLst/>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0" t="0" r="r" b="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000"/>
                  </a:srgbClr>
                </a:solidFill>
                <a:ln w="9525" cap="rnd">
                  <a:noFill/>
                  <a:round/>
                  <a:headEnd/>
                  <a:tailEnd/>
                </a:ln>
                <a:effectLst/>
              </p:spPr>
              <p:txBody>
                <a:bodyPr/>
                <a:lstStyle/>
                <a:p>
                  <a:endParaRPr lang="en-US"/>
                </a:p>
              </p:txBody>
            </p:sp>
          </p:grpSp>
          <p:grpSp>
            <p:nvGrpSpPr>
              <p:cNvPr id="62489" name="Group 25"/>
              <p:cNvGrpSpPr>
                <a:grpSpLocks/>
              </p:cNvGrpSpPr>
              <p:nvPr/>
            </p:nvGrpSpPr>
            <p:grpSpPr bwMode="auto">
              <a:xfrm>
                <a:off x="1985" y="1419"/>
                <a:ext cx="465" cy="602"/>
                <a:chOff x="1985" y="1419"/>
                <a:chExt cx="465" cy="602"/>
              </a:xfrm>
            </p:grpSpPr>
            <p:sp>
              <p:nvSpPr>
                <p:cNvPr id="62490" name="Freeform 26"/>
                <p:cNvSpPr>
                  <a:spLocks/>
                </p:cNvSpPr>
                <p:nvPr/>
              </p:nvSpPr>
              <p:spPr bwMode="ltGray">
                <a:xfrm>
                  <a:off x="2164" y="1525"/>
                  <a:ext cx="130" cy="496"/>
                </a:xfrm>
                <a:custGeom>
                  <a:avLst/>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0" t="0" r="r" b="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000"/>
                  </a:srgbClr>
                </a:solidFill>
                <a:ln w="9525" cap="rnd">
                  <a:noFill/>
                  <a:round/>
                  <a:headEnd/>
                  <a:tailEnd/>
                </a:ln>
                <a:effectLst/>
              </p:spPr>
              <p:txBody>
                <a:bodyPr/>
                <a:lstStyle/>
                <a:p>
                  <a:endParaRPr lang="en-US"/>
                </a:p>
              </p:txBody>
            </p:sp>
            <p:sp>
              <p:nvSpPr>
                <p:cNvPr id="62491" name="Freeform 27"/>
                <p:cNvSpPr>
                  <a:spLocks/>
                </p:cNvSpPr>
                <p:nvPr/>
              </p:nvSpPr>
              <p:spPr bwMode="ltGray">
                <a:xfrm>
                  <a:off x="2204" y="1606"/>
                  <a:ext cx="229" cy="358"/>
                </a:xfrm>
                <a:custGeom>
                  <a:avLst/>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0" t="0" r="r" b="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96" y="0"/>
                      </a:lnTo>
                      <a:lnTo>
                        <a:pt x="101" y="5"/>
                      </a:lnTo>
                      <a:lnTo>
                        <a:pt x="102" y="5"/>
                      </a:lnTo>
                      <a:lnTo>
                        <a:pt x="103" y="5"/>
                      </a:lnTo>
                      <a:lnTo>
                        <a:pt x="104" y="5"/>
                      </a:lnTo>
                      <a:lnTo>
                        <a:pt x="105" y="5"/>
                      </a:lnTo>
                      <a:lnTo>
                        <a:pt x="104" y="5"/>
                      </a:lnTo>
                      <a:lnTo>
                        <a:pt x="102" y="5"/>
                      </a:lnTo>
                      <a:lnTo>
                        <a:pt x="103" y="5"/>
                      </a:lnTo>
                      <a:lnTo>
                        <a:pt x="103" y="5"/>
                      </a:lnTo>
                      <a:lnTo>
                        <a:pt x="105" y="5"/>
                      </a:lnTo>
                      <a:lnTo>
                        <a:pt x="103" y="5"/>
                      </a:lnTo>
                      <a:lnTo>
                        <a:pt x="101" y="5"/>
                      </a:lnTo>
                      <a:lnTo>
                        <a:pt x="102" y="5"/>
                      </a:lnTo>
                      <a:lnTo>
                        <a:pt x="102" y="5"/>
                      </a:lnTo>
                      <a:lnTo>
                        <a:pt x="101" y="5"/>
                      </a:lnTo>
                      <a:lnTo>
                        <a:pt x="104" y="5"/>
                      </a:lnTo>
                      <a:lnTo>
                        <a:pt x="103" y="5"/>
                      </a:lnTo>
                      <a:lnTo>
                        <a:pt x="100" y="5"/>
                      </a:lnTo>
                      <a:lnTo>
                        <a:pt x="101" y="5"/>
                      </a:lnTo>
                      <a:lnTo>
                        <a:pt x="103" y="5"/>
                      </a:lnTo>
                      <a:lnTo>
                        <a:pt x="102" y="5"/>
                      </a:lnTo>
                      <a:lnTo>
                        <a:pt x="104"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14" y="5"/>
                      </a:lnTo>
                      <a:lnTo>
                        <a:pt x="14" y="5"/>
                      </a:lnTo>
                      <a:lnTo>
                        <a:pt x="14" y="5"/>
                      </a:lnTo>
                      <a:lnTo>
                        <a:pt x="14" y="5"/>
                      </a:lnTo>
                      <a:lnTo>
                        <a:pt x="14" y="5"/>
                      </a:lnTo>
                      <a:lnTo>
                        <a:pt x="14" y="5"/>
                      </a:lnTo>
                      <a:lnTo>
                        <a:pt x="14" y="5"/>
                      </a:lnTo>
                      <a:lnTo>
                        <a:pt x="27" y="5"/>
                      </a:lnTo>
                      <a:lnTo>
                        <a:pt x="27" y="5"/>
                      </a:lnTo>
                      <a:lnTo>
                        <a:pt x="27" y="5"/>
                      </a:lnTo>
                      <a:lnTo>
                        <a:pt x="27" y="5"/>
                      </a:lnTo>
                      <a:lnTo>
                        <a:pt x="27" y="5"/>
                      </a:lnTo>
                      <a:lnTo>
                        <a:pt x="31" y="10"/>
                      </a:lnTo>
                      <a:lnTo>
                        <a:pt x="37" y="22"/>
                      </a:lnTo>
                      <a:lnTo>
                        <a:pt x="43" y="31"/>
                      </a:lnTo>
                    </a:path>
                  </a:pathLst>
                </a:custGeom>
                <a:solidFill>
                  <a:srgbClr val="037C03">
                    <a:alpha val="50000"/>
                  </a:srgbClr>
                </a:solidFill>
                <a:ln w="9525" cap="rnd">
                  <a:noFill/>
                  <a:round/>
                  <a:headEnd/>
                  <a:tailEnd/>
                </a:ln>
                <a:effectLst/>
              </p:spPr>
              <p:txBody>
                <a:bodyPr/>
                <a:lstStyle/>
                <a:p>
                  <a:endParaRPr lang="en-US"/>
                </a:p>
              </p:txBody>
            </p:sp>
            <p:grpSp>
              <p:nvGrpSpPr>
                <p:cNvPr id="62492" name="Group 28"/>
                <p:cNvGrpSpPr>
                  <a:grpSpLocks/>
                </p:cNvGrpSpPr>
                <p:nvPr/>
              </p:nvGrpSpPr>
              <p:grpSpPr bwMode="auto">
                <a:xfrm>
                  <a:off x="1985" y="1419"/>
                  <a:ext cx="465" cy="349"/>
                  <a:chOff x="1985" y="1419"/>
                  <a:chExt cx="465" cy="349"/>
                </a:xfrm>
              </p:grpSpPr>
              <p:sp>
                <p:nvSpPr>
                  <p:cNvPr id="62493" name="Freeform 29"/>
                  <p:cNvSpPr>
                    <a:spLocks/>
                  </p:cNvSpPr>
                  <p:nvPr/>
                </p:nvSpPr>
                <p:spPr bwMode="ltGray">
                  <a:xfrm>
                    <a:off x="2030" y="1419"/>
                    <a:ext cx="420" cy="326"/>
                  </a:xfrm>
                  <a:custGeom>
                    <a:avLst/>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0" t="0" r="r" b="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000"/>
                    </a:srgbClr>
                  </a:solidFill>
                  <a:ln w="9525" cap="rnd">
                    <a:noFill/>
                    <a:round/>
                    <a:headEnd/>
                    <a:tailEnd/>
                  </a:ln>
                  <a:effectLst/>
                </p:spPr>
                <p:txBody>
                  <a:bodyPr/>
                  <a:lstStyle/>
                  <a:p>
                    <a:endParaRPr lang="en-US"/>
                  </a:p>
                </p:txBody>
              </p:sp>
              <p:sp>
                <p:nvSpPr>
                  <p:cNvPr id="62494" name="Freeform 30"/>
                  <p:cNvSpPr>
                    <a:spLocks/>
                  </p:cNvSpPr>
                  <p:nvPr/>
                </p:nvSpPr>
                <p:spPr bwMode="ltGray">
                  <a:xfrm>
                    <a:off x="2175" y="1587"/>
                    <a:ext cx="38" cy="181"/>
                  </a:xfrm>
                  <a:custGeom>
                    <a:avLst/>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0" t="0" r="r" b="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000"/>
                    </a:srgbClr>
                  </a:solidFill>
                  <a:ln w="9525" cap="rnd">
                    <a:noFill/>
                    <a:round/>
                    <a:headEnd/>
                    <a:tailEnd/>
                  </a:ln>
                  <a:effectLst/>
                </p:spPr>
                <p:txBody>
                  <a:bodyPr/>
                  <a:lstStyle/>
                  <a:p>
                    <a:endParaRPr lang="en-US"/>
                  </a:p>
                </p:txBody>
              </p:sp>
              <p:sp>
                <p:nvSpPr>
                  <p:cNvPr id="62495" name="Freeform 31"/>
                  <p:cNvSpPr>
                    <a:spLocks/>
                  </p:cNvSpPr>
                  <p:nvPr/>
                </p:nvSpPr>
                <p:spPr bwMode="ltGray">
                  <a:xfrm>
                    <a:off x="1991" y="1486"/>
                    <a:ext cx="168" cy="48"/>
                  </a:xfrm>
                  <a:custGeom>
                    <a:avLst/>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0" t="0" r="r" b="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000"/>
                    </a:srgbClr>
                  </a:solidFill>
                  <a:ln w="9525" cap="rnd">
                    <a:noFill/>
                    <a:round/>
                    <a:headEnd/>
                    <a:tailEnd/>
                  </a:ln>
                  <a:effectLst/>
                </p:spPr>
                <p:txBody>
                  <a:bodyPr/>
                  <a:lstStyle/>
                  <a:p>
                    <a:endParaRPr lang="en-US"/>
                  </a:p>
                </p:txBody>
              </p:sp>
              <p:sp>
                <p:nvSpPr>
                  <p:cNvPr id="62496" name="Freeform 32"/>
                  <p:cNvSpPr>
                    <a:spLocks/>
                  </p:cNvSpPr>
                  <p:nvPr/>
                </p:nvSpPr>
                <p:spPr bwMode="ltGray">
                  <a:xfrm>
                    <a:off x="1985" y="1514"/>
                    <a:ext cx="173" cy="20"/>
                  </a:xfrm>
                  <a:custGeom>
                    <a:avLst/>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0" t="0" r="r" b="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000"/>
                    </a:srgbClr>
                  </a:solidFill>
                  <a:ln w="9525" cap="rnd">
                    <a:noFill/>
                    <a:round/>
                    <a:headEnd/>
                    <a:tailEnd/>
                  </a:ln>
                  <a:effectLst/>
                </p:spPr>
                <p:txBody>
                  <a:bodyPr/>
                  <a:lstStyle/>
                  <a:p>
                    <a:endParaRPr lang="en-US"/>
                  </a:p>
                </p:txBody>
              </p:sp>
            </p:grpSp>
          </p:grpSp>
        </p:grpSp>
      </p:grpSp>
      <p:grpSp>
        <p:nvGrpSpPr>
          <p:cNvPr id="62497" name="Group 33"/>
          <p:cNvGrpSpPr>
            <a:grpSpLocks/>
          </p:cNvGrpSpPr>
          <p:nvPr/>
        </p:nvGrpSpPr>
        <p:grpSpPr bwMode="auto">
          <a:xfrm>
            <a:off x="7934325" y="6124575"/>
            <a:ext cx="322263" cy="420688"/>
            <a:chOff x="112" y="4288"/>
            <a:chExt cx="439" cy="478"/>
          </a:xfrm>
        </p:grpSpPr>
        <p:grpSp>
          <p:nvGrpSpPr>
            <p:cNvPr id="62498" name="Group 34"/>
            <p:cNvGrpSpPr>
              <a:grpSpLocks/>
            </p:cNvGrpSpPr>
            <p:nvPr/>
          </p:nvGrpSpPr>
          <p:grpSpPr bwMode="auto">
            <a:xfrm>
              <a:off x="259" y="4288"/>
              <a:ext cx="148" cy="478"/>
              <a:chOff x="259" y="4288"/>
              <a:chExt cx="148" cy="478"/>
            </a:xfrm>
          </p:grpSpPr>
          <p:sp>
            <p:nvSpPr>
              <p:cNvPr id="62499" name="Freeform 35"/>
              <p:cNvSpPr>
                <a:spLocks/>
              </p:cNvSpPr>
              <p:nvPr/>
            </p:nvSpPr>
            <p:spPr bwMode="auto">
              <a:xfrm>
                <a:off x="260" y="4288"/>
                <a:ext cx="147" cy="478"/>
              </a:xfrm>
              <a:custGeom>
                <a:avLst/>
                <a:gdLst/>
                <a:ahLst/>
                <a:cxnLst>
                  <a:cxn ang="0">
                    <a:pos x="49" y="188"/>
                  </a:cxn>
                  <a:cxn ang="0">
                    <a:pos x="131" y="472"/>
                  </a:cxn>
                  <a:cxn ang="0">
                    <a:pos x="135" y="475"/>
                  </a:cxn>
                  <a:cxn ang="0">
                    <a:pos x="139" y="477"/>
                  </a:cxn>
                  <a:cxn ang="0">
                    <a:pos x="142" y="475"/>
                  </a:cxn>
                  <a:cxn ang="0">
                    <a:pos x="144" y="472"/>
                  </a:cxn>
                  <a:cxn ang="0">
                    <a:pos x="146" y="468"/>
                  </a:cxn>
                  <a:cxn ang="0">
                    <a:pos x="146" y="463"/>
                  </a:cxn>
                  <a:cxn ang="0">
                    <a:pos x="143" y="455"/>
                  </a:cxn>
                  <a:cxn ang="0">
                    <a:pos x="61" y="176"/>
                  </a:cxn>
                  <a:cxn ang="0">
                    <a:pos x="9" y="5"/>
                  </a:cxn>
                  <a:cxn ang="0">
                    <a:pos x="6" y="2"/>
                  </a:cxn>
                  <a:cxn ang="0">
                    <a:pos x="4" y="1"/>
                  </a:cxn>
                  <a:cxn ang="0">
                    <a:pos x="1" y="0"/>
                  </a:cxn>
                  <a:cxn ang="0">
                    <a:pos x="0" y="2"/>
                  </a:cxn>
                  <a:cxn ang="0">
                    <a:pos x="0" y="6"/>
                  </a:cxn>
                  <a:cxn ang="0">
                    <a:pos x="0" y="10"/>
                  </a:cxn>
                  <a:cxn ang="0">
                    <a:pos x="49" y="188"/>
                  </a:cxn>
                </a:cxnLst>
                <a:rect l="0" t="0" r="r" b="b"/>
                <a:pathLst>
                  <a:path w="147" h="478">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solidFill>
              <a:ln w="9525" cap="rnd">
                <a:noFill/>
                <a:round/>
                <a:headEnd/>
                <a:tailEnd/>
              </a:ln>
              <a:effectLst/>
            </p:spPr>
            <p:txBody>
              <a:bodyPr/>
              <a:lstStyle/>
              <a:p>
                <a:endParaRPr lang="en-US"/>
              </a:p>
            </p:txBody>
          </p:sp>
          <p:sp>
            <p:nvSpPr>
              <p:cNvPr id="62500" name="Freeform 36"/>
              <p:cNvSpPr>
                <a:spLocks/>
              </p:cNvSpPr>
              <p:nvPr/>
            </p:nvSpPr>
            <p:spPr bwMode="auto">
              <a:xfrm>
                <a:off x="259" y="4289"/>
                <a:ext cx="146" cy="477"/>
              </a:xfrm>
              <a:custGeom>
                <a:avLst/>
                <a:gdLst/>
                <a:ahLst/>
                <a:cxnLst>
                  <a:cxn ang="0">
                    <a:pos x="50" y="186"/>
                  </a:cxn>
                  <a:cxn ang="0">
                    <a:pos x="131" y="471"/>
                  </a:cxn>
                  <a:cxn ang="0">
                    <a:pos x="133" y="474"/>
                  </a:cxn>
                  <a:cxn ang="0">
                    <a:pos x="138" y="476"/>
                  </a:cxn>
                  <a:cxn ang="0">
                    <a:pos x="141" y="474"/>
                  </a:cxn>
                  <a:cxn ang="0">
                    <a:pos x="144" y="473"/>
                  </a:cxn>
                  <a:cxn ang="0">
                    <a:pos x="145" y="467"/>
                  </a:cxn>
                  <a:cxn ang="0">
                    <a:pos x="145" y="462"/>
                  </a:cxn>
                  <a:cxn ang="0">
                    <a:pos x="143" y="454"/>
                  </a:cxn>
                  <a:cxn ang="0">
                    <a:pos x="61" y="174"/>
                  </a:cxn>
                  <a:cxn ang="0">
                    <a:pos x="9" y="4"/>
                  </a:cxn>
                  <a:cxn ang="0">
                    <a:pos x="6" y="2"/>
                  </a:cxn>
                  <a:cxn ang="0">
                    <a:pos x="4" y="0"/>
                  </a:cxn>
                  <a:cxn ang="0">
                    <a:pos x="2" y="0"/>
                  </a:cxn>
                  <a:cxn ang="0">
                    <a:pos x="1" y="2"/>
                  </a:cxn>
                  <a:cxn ang="0">
                    <a:pos x="0" y="5"/>
                  </a:cxn>
                  <a:cxn ang="0">
                    <a:pos x="0" y="9"/>
                  </a:cxn>
                  <a:cxn ang="0">
                    <a:pos x="50" y="186"/>
                  </a:cxn>
                </a:cxnLst>
                <a:rect l="0" t="0" r="r" b="b"/>
                <a:pathLst>
                  <a:path w="146" h="477">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solidFill>
              <a:ln w="9525" cap="rnd">
                <a:noFill/>
                <a:round/>
                <a:headEnd/>
                <a:tailEnd/>
              </a:ln>
              <a:effectLst/>
            </p:spPr>
            <p:txBody>
              <a:bodyPr/>
              <a:lstStyle/>
              <a:p>
                <a:endParaRPr lang="en-US"/>
              </a:p>
            </p:txBody>
          </p:sp>
        </p:grpSp>
        <p:grpSp>
          <p:nvGrpSpPr>
            <p:cNvPr id="62501" name="Group 37"/>
            <p:cNvGrpSpPr>
              <a:grpSpLocks/>
            </p:cNvGrpSpPr>
            <p:nvPr/>
          </p:nvGrpSpPr>
          <p:grpSpPr bwMode="auto">
            <a:xfrm>
              <a:off x="112" y="4295"/>
              <a:ext cx="439" cy="321"/>
              <a:chOff x="112" y="4295"/>
              <a:chExt cx="439" cy="321"/>
            </a:xfrm>
          </p:grpSpPr>
          <p:sp>
            <p:nvSpPr>
              <p:cNvPr id="62502" name="Freeform 38"/>
              <p:cNvSpPr>
                <a:spLocks/>
              </p:cNvSpPr>
              <p:nvPr/>
            </p:nvSpPr>
            <p:spPr bwMode="auto">
              <a:xfrm>
                <a:off x="191" y="4304"/>
                <a:ext cx="273" cy="276"/>
              </a:xfrm>
              <a:custGeom>
                <a:avLst/>
                <a:gdLst/>
                <a:ahLst/>
                <a:cxnLst>
                  <a:cxn ang="0">
                    <a:pos x="43" y="32"/>
                  </a:cxn>
                  <a:cxn ang="0">
                    <a:pos x="69" y="13"/>
                  </a:cxn>
                  <a:cxn ang="0">
                    <a:pos x="92" y="4"/>
                  </a:cxn>
                  <a:cxn ang="0">
                    <a:pos x="123" y="0"/>
                  </a:cxn>
                  <a:cxn ang="0">
                    <a:pos x="154" y="9"/>
                  </a:cxn>
                  <a:cxn ang="0">
                    <a:pos x="194" y="36"/>
                  </a:cxn>
                  <a:cxn ang="0">
                    <a:pos x="232" y="75"/>
                  </a:cxn>
                  <a:cxn ang="0">
                    <a:pos x="265" y="128"/>
                  </a:cxn>
                  <a:cxn ang="0">
                    <a:pos x="268" y="156"/>
                  </a:cxn>
                  <a:cxn ang="0">
                    <a:pos x="261" y="146"/>
                  </a:cxn>
                  <a:cxn ang="0">
                    <a:pos x="253" y="138"/>
                  </a:cxn>
                  <a:cxn ang="0">
                    <a:pos x="242" y="133"/>
                  </a:cxn>
                  <a:cxn ang="0">
                    <a:pos x="232" y="132"/>
                  </a:cxn>
                  <a:cxn ang="0">
                    <a:pos x="220" y="133"/>
                  </a:cxn>
                  <a:cxn ang="0">
                    <a:pos x="209" y="137"/>
                  </a:cxn>
                  <a:cxn ang="0">
                    <a:pos x="201" y="144"/>
                  </a:cxn>
                  <a:cxn ang="0">
                    <a:pos x="193" y="155"/>
                  </a:cxn>
                  <a:cxn ang="0">
                    <a:pos x="187" y="167"/>
                  </a:cxn>
                  <a:cxn ang="0">
                    <a:pos x="184" y="181"/>
                  </a:cxn>
                  <a:cxn ang="0">
                    <a:pos x="186" y="196"/>
                  </a:cxn>
                  <a:cxn ang="0">
                    <a:pos x="166" y="150"/>
                  </a:cxn>
                  <a:cxn ang="0">
                    <a:pos x="99" y="225"/>
                  </a:cxn>
                  <a:cxn ang="0">
                    <a:pos x="99" y="231"/>
                  </a:cxn>
                  <a:cxn ang="0">
                    <a:pos x="92" y="221"/>
                  </a:cxn>
                  <a:cxn ang="0">
                    <a:pos x="83" y="212"/>
                  </a:cxn>
                  <a:cxn ang="0">
                    <a:pos x="73" y="207"/>
                  </a:cxn>
                  <a:cxn ang="0">
                    <a:pos x="63" y="204"/>
                  </a:cxn>
                  <a:cxn ang="0">
                    <a:pos x="53" y="206"/>
                  </a:cxn>
                  <a:cxn ang="0">
                    <a:pos x="43" y="208"/>
                  </a:cxn>
                  <a:cxn ang="0">
                    <a:pos x="33" y="214"/>
                  </a:cxn>
                  <a:cxn ang="0">
                    <a:pos x="25" y="222"/>
                  </a:cxn>
                  <a:cxn ang="0">
                    <a:pos x="19" y="231"/>
                  </a:cxn>
                  <a:cxn ang="0">
                    <a:pos x="15" y="243"/>
                  </a:cxn>
                  <a:cxn ang="0">
                    <a:pos x="14" y="258"/>
                  </a:cxn>
                  <a:cxn ang="0">
                    <a:pos x="17" y="275"/>
                  </a:cxn>
                  <a:cxn ang="0">
                    <a:pos x="3" y="229"/>
                  </a:cxn>
                  <a:cxn ang="0">
                    <a:pos x="0" y="173"/>
                  </a:cxn>
                  <a:cxn ang="0">
                    <a:pos x="4" y="119"/>
                  </a:cxn>
                  <a:cxn ang="0">
                    <a:pos x="30" y="48"/>
                  </a:cxn>
                </a:cxnLst>
                <a:rect l="0" t="0" r="r" b="b"/>
                <a:pathLst>
                  <a:path w="273" h="276">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solidFill>
              <a:ln w="9525" cap="rnd">
                <a:noFill/>
                <a:round/>
                <a:headEnd/>
                <a:tailEnd/>
              </a:ln>
              <a:effectLst/>
            </p:spPr>
            <p:txBody>
              <a:bodyPr/>
              <a:lstStyle/>
              <a:p>
                <a:endParaRPr lang="en-US"/>
              </a:p>
            </p:txBody>
          </p:sp>
          <p:sp>
            <p:nvSpPr>
              <p:cNvPr id="62503" name="Freeform 39"/>
              <p:cNvSpPr>
                <a:spLocks/>
              </p:cNvSpPr>
              <p:nvPr/>
            </p:nvSpPr>
            <p:spPr bwMode="auto">
              <a:xfrm>
                <a:off x="112" y="4295"/>
                <a:ext cx="439" cy="321"/>
              </a:xfrm>
              <a:custGeom>
                <a:avLst/>
                <a:gdLst/>
                <a:ahLst/>
                <a:cxnLst>
                  <a:cxn ang="0">
                    <a:pos x="146" y="22"/>
                  </a:cxn>
                  <a:cxn ang="0">
                    <a:pos x="113" y="43"/>
                  </a:cxn>
                  <a:cxn ang="0">
                    <a:pos x="83" y="67"/>
                  </a:cxn>
                  <a:cxn ang="0">
                    <a:pos x="57" y="96"/>
                  </a:cxn>
                  <a:cxn ang="0">
                    <a:pos x="31" y="134"/>
                  </a:cxn>
                  <a:cxn ang="0">
                    <a:pos x="12" y="177"/>
                  </a:cxn>
                  <a:cxn ang="0">
                    <a:pos x="1" y="227"/>
                  </a:cxn>
                  <a:cxn ang="0">
                    <a:pos x="0" y="278"/>
                  </a:cxn>
                  <a:cxn ang="0">
                    <a:pos x="9" y="320"/>
                  </a:cxn>
                  <a:cxn ang="0">
                    <a:pos x="10" y="282"/>
                  </a:cxn>
                  <a:cxn ang="0">
                    <a:pos x="29" y="258"/>
                  </a:cxn>
                  <a:cxn ang="0">
                    <a:pos x="55" y="250"/>
                  </a:cxn>
                  <a:cxn ang="0">
                    <a:pos x="81" y="260"/>
                  </a:cxn>
                  <a:cxn ang="0">
                    <a:pos x="94" y="276"/>
                  </a:cxn>
                  <a:cxn ang="0">
                    <a:pos x="84" y="229"/>
                  </a:cxn>
                  <a:cxn ang="0">
                    <a:pos x="81" y="178"/>
                  </a:cxn>
                  <a:cxn ang="0">
                    <a:pos x="85" y="129"/>
                  </a:cxn>
                  <a:cxn ang="0">
                    <a:pos x="96" y="91"/>
                  </a:cxn>
                  <a:cxn ang="0">
                    <a:pos x="113" y="57"/>
                  </a:cxn>
                  <a:cxn ang="0">
                    <a:pos x="138" y="30"/>
                  </a:cxn>
                  <a:cxn ang="0">
                    <a:pos x="149" y="30"/>
                  </a:cxn>
                  <a:cxn ang="0">
                    <a:pos x="146" y="71"/>
                  </a:cxn>
                  <a:cxn ang="0">
                    <a:pos x="150" y="116"/>
                  </a:cxn>
                  <a:cxn ang="0">
                    <a:pos x="161" y="172"/>
                  </a:cxn>
                  <a:cxn ang="0">
                    <a:pos x="174" y="220"/>
                  </a:cxn>
                  <a:cxn ang="0">
                    <a:pos x="179" y="231"/>
                  </a:cxn>
                  <a:cxn ang="0">
                    <a:pos x="189" y="196"/>
                  </a:cxn>
                  <a:cxn ang="0">
                    <a:pos x="217" y="178"/>
                  </a:cxn>
                  <a:cxn ang="0">
                    <a:pos x="247" y="184"/>
                  </a:cxn>
                  <a:cxn ang="0">
                    <a:pos x="262" y="198"/>
                  </a:cxn>
                  <a:cxn ang="0">
                    <a:pos x="248" y="158"/>
                  </a:cxn>
                  <a:cxn ang="0">
                    <a:pos x="231" y="115"/>
                  </a:cxn>
                  <a:cxn ang="0">
                    <a:pos x="211" y="75"/>
                  </a:cxn>
                  <a:cxn ang="0">
                    <a:pos x="192" y="44"/>
                  </a:cxn>
                  <a:cxn ang="0">
                    <a:pos x="170" y="20"/>
                  </a:cxn>
                  <a:cxn ang="0">
                    <a:pos x="183" y="12"/>
                  </a:cxn>
                  <a:cxn ang="0">
                    <a:pos x="217" y="14"/>
                  </a:cxn>
                  <a:cxn ang="0">
                    <a:pos x="251" y="30"/>
                  </a:cxn>
                  <a:cxn ang="0">
                    <a:pos x="278" y="52"/>
                  </a:cxn>
                  <a:cxn ang="0">
                    <a:pos x="303" y="80"/>
                  </a:cxn>
                  <a:cxn ang="0">
                    <a:pos x="324" y="112"/>
                  </a:cxn>
                  <a:cxn ang="0">
                    <a:pos x="341" y="149"/>
                  </a:cxn>
                  <a:cxn ang="0">
                    <a:pos x="350" y="157"/>
                  </a:cxn>
                  <a:cxn ang="0">
                    <a:pos x="360" y="125"/>
                  </a:cxn>
                  <a:cxn ang="0">
                    <a:pos x="383" y="106"/>
                  </a:cxn>
                  <a:cxn ang="0">
                    <a:pos x="407" y="106"/>
                  </a:cxn>
                  <a:cxn ang="0">
                    <a:pos x="430" y="125"/>
                  </a:cxn>
                  <a:cxn ang="0">
                    <a:pos x="430" y="116"/>
                  </a:cxn>
                  <a:cxn ang="0">
                    <a:pos x="411" y="83"/>
                  </a:cxn>
                  <a:cxn ang="0">
                    <a:pos x="387" y="53"/>
                  </a:cxn>
                  <a:cxn ang="0">
                    <a:pos x="356" y="29"/>
                  </a:cxn>
                  <a:cxn ang="0">
                    <a:pos x="324" y="13"/>
                  </a:cxn>
                  <a:cxn ang="0">
                    <a:pos x="291" y="4"/>
                  </a:cxn>
                  <a:cxn ang="0">
                    <a:pos x="256" y="0"/>
                  </a:cxn>
                  <a:cxn ang="0">
                    <a:pos x="217" y="1"/>
                  </a:cxn>
                  <a:cxn ang="0">
                    <a:pos x="180" y="9"/>
                  </a:cxn>
                </a:cxnLst>
                <a:rect l="0" t="0" r="r" b="b"/>
                <a:pathLst>
                  <a:path w="439" h="321">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solidFill>
              <a:ln w="9525" cap="rnd">
                <a:noFill/>
                <a:round/>
                <a:headEnd/>
                <a:tailEnd/>
              </a:ln>
              <a:effectLst/>
            </p:spPr>
            <p:txBody>
              <a:bodyPr/>
              <a:lstStyle/>
              <a:p>
                <a:endParaRPr lang="en-US"/>
              </a:p>
            </p:txBody>
          </p:sp>
        </p:grpSp>
      </p:grpSp>
      <p:sp>
        <p:nvSpPr>
          <p:cNvPr id="62504" name="Text Box 40"/>
          <p:cNvSpPr txBox="1">
            <a:spLocks noChangeArrowheads="1"/>
          </p:cNvSpPr>
          <p:nvPr/>
        </p:nvSpPr>
        <p:spPr bwMode="auto">
          <a:xfrm>
            <a:off x="6762750" y="6613525"/>
            <a:ext cx="2381250" cy="244475"/>
          </a:xfrm>
          <a:prstGeom prst="rect">
            <a:avLst/>
          </a:prstGeom>
          <a:noFill/>
          <a:ln w="9525">
            <a:noFill/>
            <a:miter lim="800000"/>
            <a:headEnd/>
            <a:tailEnd/>
          </a:ln>
          <a:effectLst/>
        </p:spPr>
        <p:txBody>
          <a:bodyPr wrap="none">
            <a:spAutoFit/>
          </a:bodyPr>
          <a:lstStyle/>
          <a:p>
            <a:pPr>
              <a:spcBef>
                <a:spcPct val="50000"/>
              </a:spcBef>
            </a:pPr>
            <a:r>
              <a:rPr lang="en-US" sz="1000" b="1">
                <a:solidFill>
                  <a:schemeClr val="tx2"/>
                </a:solidFill>
              </a:rPr>
              <a:t>©Silberschatz, Korth and Sudarshan</a:t>
            </a:r>
          </a:p>
        </p:txBody>
      </p:sp>
      <p:sp>
        <p:nvSpPr>
          <p:cNvPr id="62505" name="Text Box 41"/>
          <p:cNvSpPr txBox="1">
            <a:spLocks noChangeArrowheads="1"/>
          </p:cNvSpPr>
          <p:nvPr/>
        </p:nvSpPr>
        <p:spPr bwMode="auto">
          <a:xfrm>
            <a:off x="4481513" y="6613525"/>
            <a:ext cx="444500" cy="244475"/>
          </a:xfrm>
          <a:prstGeom prst="rect">
            <a:avLst/>
          </a:prstGeom>
          <a:noFill/>
          <a:ln w="9525">
            <a:noFill/>
            <a:miter lim="800000"/>
            <a:headEnd/>
            <a:tailEnd/>
          </a:ln>
          <a:effectLst/>
        </p:spPr>
        <p:txBody>
          <a:bodyPr wrap="none">
            <a:spAutoFit/>
          </a:bodyPr>
          <a:lstStyle/>
          <a:p>
            <a:pPr>
              <a:spcBef>
                <a:spcPct val="50000"/>
              </a:spcBef>
            </a:pPr>
            <a:r>
              <a:rPr lang="en-US" sz="1000" b="1">
                <a:solidFill>
                  <a:schemeClr val="tx2"/>
                </a:solidFill>
              </a:rPr>
              <a:t>6.</a:t>
            </a:r>
            <a:fld id="{F23554FA-B234-4124-B562-21A8EFFEF593}" type="slidenum">
              <a:rPr lang="en-US" sz="1000" b="1">
                <a:solidFill>
                  <a:schemeClr val="tx2"/>
                </a:solidFill>
              </a:rPr>
              <a:pPr>
                <a:spcBef>
                  <a:spcPct val="50000"/>
                </a:spcBef>
              </a:pPr>
              <a:t>‹#›</a:t>
            </a:fld>
            <a:endParaRPr lang="en-US" sz="1000" b="1">
              <a:solidFill>
                <a:schemeClr val="tx2"/>
              </a:solidFill>
            </a:endParaRPr>
          </a:p>
        </p:txBody>
      </p:sp>
      <p:sp>
        <p:nvSpPr>
          <p:cNvPr id="62506" name="Rectangle 42"/>
          <p:cNvSpPr>
            <a:spLocks noGrp="1" noChangeArrowheads="1"/>
          </p:cNvSpPr>
          <p:nvPr>
            <p:ph type="title"/>
          </p:nvPr>
        </p:nvSpPr>
        <p:spPr bwMode="auto">
          <a:xfrm>
            <a:off x="762000" y="0"/>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62507" name="Text Box 43"/>
          <p:cNvSpPr txBox="1">
            <a:spLocks noChangeArrowheads="1"/>
          </p:cNvSpPr>
          <p:nvPr/>
        </p:nvSpPr>
        <p:spPr bwMode="auto">
          <a:xfrm>
            <a:off x="0" y="6613525"/>
            <a:ext cx="1843088" cy="244475"/>
          </a:xfrm>
          <a:prstGeom prst="rect">
            <a:avLst/>
          </a:prstGeom>
          <a:noFill/>
          <a:ln w="9525">
            <a:noFill/>
            <a:miter lim="800000"/>
            <a:headEnd/>
            <a:tailEnd/>
          </a:ln>
          <a:effectLst/>
        </p:spPr>
        <p:txBody>
          <a:bodyPr wrap="none">
            <a:spAutoFit/>
          </a:bodyPr>
          <a:lstStyle/>
          <a:p>
            <a:pPr algn="l">
              <a:spcBef>
                <a:spcPct val="50000"/>
              </a:spcBef>
            </a:pPr>
            <a:r>
              <a:rPr lang="en-US" sz="1000" b="1">
                <a:solidFill>
                  <a:schemeClr val="tx2"/>
                </a:solidFill>
              </a:rPr>
              <a:t>Database System Concepts</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0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105000"/>
        <a:buFont typeface="Monotype Sorts" pitchFamily="2" charset="2"/>
        <a:buChar char="H"/>
        <a:defRPr kumimoji="1">
          <a:solidFill>
            <a:schemeClr val="tx1"/>
          </a:solidFill>
          <a:latin typeface="+mn-lt"/>
        </a:defRPr>
      </a:lvl2pPr>
      <a:lvl3pPr marL="1085850" indent="-228600" algn="l" rtl="0" eaLnBrk="0" fontAlgn="base" hangingPunct="0">
        <a:spcBef>
          <a:spcPct val="35000"/>
        </a:spcBef>
        <a:spcAft>
          <a:spcPct val="0"/>
        </a:spcAft>
        <a:buClr>
          <a:srgbClr val="000099"/>
        </a:buClr>
        <a:buSzPct val="85000"/>
        <a:buFont typeface="Monotype Sorts" pitchFamily="2"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62000" y="990600"/>
            <a:ext cx="8077200" cy="609600"/>
          </a:xfrm>
        </p:spPr>
        <p:txBody>
          <a:bodyPr/>
          <a:lstStyle/>
          <a:p>
            <a:r>
              <a:rPr lang="en-US" dirty="0" smtClean="0"/>
              <a:t>Integrity </a:t>
            </a:r>
            <a:r>
              <a:rPr lang="en-US" dirty="0"/>
              <a:t>and Security</a:t>
            </a:r>
          </a:p>
        </p:txBody>
      </p:sp>
      <p:sp>
        <p:nvSpPr>
          <p:cNvPr id="30723" name="Rectangle 3"/>
          <p:cNvSpPr>
            <a:spLocks noGrp="1" noChangeArrowheads="1"/>
          </p:cNvSpPr>
          <p:nvPr>
            <p:ph type="body" idx="1"/>
          </p:nvPr>
        </p:nvSpPr>
        <p:spPr>
          <a:xfrm>
            <a:off x="2400300" y="1981200"/>
            <a:ext cx="6896100" cy="3810000"/>
          </a:xfrm>
        </p:spPr>
        <p:txBody>
          <a:bodyPr/>
          <a:lstStyle/>
          <a:p>
            <a:r>
              <a:rPr lang="en-US" dirty="0"/>
              <a:t>Domain Constraints </a:t>
            </a:r>
          </a:p>
          <a:p>
            <a:r>
              <a:rPr lang="en-US" dirty="0"/>
              <a:t>Referential Integrity</a:t>
            </a:r>
          </a:p>
          <a:p>
            <a:r>
              <a:rPr lang="en-US" dirty="0" smtClean="0"/>
              <a:t>Triggers</a:t>
            </a:r>
            <a:endParaRPr lang="en-US" dirty="0"/>
          </a:p>
          <a:p>
            <a:r>
              <a:rPr lang="en-US" dirty="0"/>
              <a:t>Security</a:t>
            </a:r>
          </a:p>
          <a:p>
            <a:r>
              <a:rPr lang="en-US" dirty="0"/>
              <a:t>Authorization </a:t>
            </a:r>
          </a:p>
        </p:txBody>
      </p:sp>
      <p:sp>
        <p:nvSpPr>
          <p:cNvPr id="5" name="Slide Number Placeholder 4"/>
          <p:cNvSpPr>
            <a:spLocks noGrp="1"/>
          </p:cNvSpPr>
          <p:nvPr>
            <p:ph type="sldNum" sz="quarter" idx="11"/>
          </p:nvPr>
        </p:nvSpPr>
        <p:spPr/>
        <p:txBody>
          <a:bodyPr/>
          <a:lstStyle/>
          <a:p>
            <a:fld id="{0CE8B4ED-F473-44DC-8BCA-08AC378C3B98}" type="slidenum">
              <a:rPr lang="en-US" smtClean="0"/>
              <a:pPr/>
              <a:t>1</a:t>
            </a:fld>
            <a:endParaRPr lang="en-US"/>
          </a:p>
        </p:txBody>
      </p:sp>
      <p:sp>
        <p:nvSpPr>
          <p:cNvPr id="6" name="Date Placeholder 5"/>
          <p:cNvSpPr>
            <a:spLocks noGrp="1"/>
          </p:cNvSpPr>
          <p:nvPr>
            <p:ph type="dt" sz="half" idx="10"/>
          </p:nvPr>
        </p:nvSpPr>
        <p:spPr/>
        <p:txBody>
          <a:bodyPr/>
          <a:lstStyle/>
          <a:p>
            <a:fld id="{CDD4D973-41AF-461C-A088-05BA0614E29E}" type="datetime1">
              <a:rPr lang="en-US" smtClean="0"/>
              <a:t>10/29/2024</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Domain Constraints</a:t>
            </a:r>
          </a:p>
        </p:txBody>
      </p:sp>
      <p:sp>
        <p:nvSpPr>
          <p:cNvPr id="31747" name="Rectangle 3"/>
          <p:cNvSpPr>
            <a:spLocks noGrp="1" noChangeArrowheads="1"/>
          </p:cNvSpPr>
          <p:nvPr>
            <p:ph type="body" idx="1"/>
          </p:nvPr>
        </p:nvSpPr>
        <p:spPr>
          <a:xfrm>
            <a:off x="571500" y="1114425"/>
            <a:ext cx="8039100" cy="5210175"/>
          </a:xfrm>
        </p:spPr>
        <p:txBody>
          <a:bodyPr/>
          <a:lstStyle/>
          <a:p>
            <a:r>
              <a:rPr lang="en-US" dirty="0"/>
              <a:t>Integrity constraints guard against accidental damage to the database, by ensuring that authorized changes to the database do not result in a loss of data consistency. </a:t>
            </a:r>
          </a:p>
          <a:p>
            <a:r>
              <a:rPr lang="en-US" dirty="0">
                <a:solidFill>
                  <a:schemeClr val="tx2"/>
                </a:solidFill>
              </a:rPr>
              <a:t>Domain constraints</a:t>
            </a:r>
            <a:r>
              <a:rPr lang="en-US" dirty="0"/>
              <a:t> are the most elementary form of integrity constraint.</a:t>
            </a:r>
          </a:p>
          <a:p>
            <a:r>
              <a:rPr lang="en-US" dirty="0"/>
              <a:t>They test values inserted in the database, and test queries to ensure that the comparisons make sense. </a:t>
            </a:r>
          </a:p>
          <a:p>
            <a:r>
              <a:rPr lang="en-US" dirty="0"/>
              <a:t>New domains can be created from existing data types</a:t>
            </a:r>
          </a:p>
          <a:p>
            <a:pPr lvl="1"/>
            <a:r>
              <a:rPr lang="en-US" dirty="0"/>
              <a:t>E.g.   </a:t>
            </a:r>
            <a:r>
              <a:rPr lang="en-US" b="1" dirty="0"/>
              <a:t>create domain</a:t>
            </a:r>
            <a:r>
              <a:rPr lang="en-US" dirty="0"/>
              <a:t> </a:t>
            </a:r>
            <a:r>
              <a:rPr lang="en-US" i="1" dirty="0"/>
              <a:t>Dollars</a:t>
            </a:r>
            <a:r>
              <a:rPr lang="en-US" dirty="0"/>
              <a:t> </a:t>
            </a:r>
            <a:r>
              <a:rPr lang="en-US" b="1" dirty="0"/>
              <a:t>numeric</a:t>
            </a:r>
            <a:r>
              <a:rPr lang="en-US" dirty="0"/>
              <a:t>(12, 2)</a:t>
            </a:r>
            <a:br>
              <a:rPr lang="en-US" dirty="0"/>
            </a:br>
            <a:r>
              <a:rPr lang="en-US" dirty="0"/>
              <a:t>         </a:t>
            </a:r>
            <a:r>
              <a:rPr lang="en-US" b="1" dirty="0"/>
              <a:t>create domain</a:t>
            </a:r>
            <a:r>
              <a:rPr lang="en-US" dirty="0"/>
              <a:t> </a:t>
            </a:r>
            <a:r>
              <a:rPr lang="en-US" i="1" dirty="0"/>
              <a:t>Pounds</a:t>
            </a:r>
            <a:r>
              <a:rPr lang="en-US" dirty="0"/>
              <a:t> </a:t>
            </a:r>
            <a:r>
              <a:rPr lang="en-US" b="1" dirty="0"/>
              <a:t>numeric</a:t>
            </a:r>
            <a:r>
              <a:rPr lang="en-US" dirty="0"/>
              <a:t>(12,2</a:t>
            </a:r>
            <a:r>
              <a:rPr lang="en-US" dirty="0" smtClean="0"/>
              <a:t>)</a:t>
            </a:r>
            <a:endParaRPr lang="en-US" dirty="0"/>
          </a:p>
        </p:txBody>
      </p:sp>
      <p:sp>
        <p:nvSpPr>
          <p:cNvPr id="5" name="Slide Number Placeholder 4"/>
          <p:cNvSpPr>
            <a:spLocks noGrp="1"/>
          </p:cNvSpPr>
          <p:nvPr>
            <p:ph type="sldNum" sz="quarter" idx="11"/>
          </p:nvPr>
        </p:nvSpPr>
        <p:spPr/>
        <p:txBody>
          <a:bodyPr/>
          <a:lstStyle/>
          <a:p>
            <a:fld id="{0CE8B4ED-F473-44DC-8BCA-08AC378C3B98}" type="slidenum">
              <a:rPr lang="en-US" smtClean="0"/>
              <a:pPr/>
              <a:t>2</a:t>
            </a:fld>
            <a:endParaRPr lang="en-US"/>
          </a:p>
        </p:txBody>
      </p:sp>
      <p:sp>
        <p:nvSpPr>
          <p:cNvPr id="6" name="Date Placeholder 5"/>
          <p:cNvSpPr>
            <a:spLocks noGrp="1"/>
          </p:cNvSpPr>
          <p:nvPr>
            <p:ph type="dt" sz="half" idx="10"/>
          </p:nvPr>
        </p:nvSpPr>
        <p:spPr/>
        <p:txBody>
          <a:bodyPr/>
          <a:lstStyle/>
          <a:p>
            <a:fld id="{2DBCFF3C-30BD-46FF-BF8C-44CBB01B853D}" type="datetime1">
              <a:rPr lang="en-US" smtClean="0"/>
              <a:t>10/29/2024</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t>Domain Constraints (Cont.)</a:t>
            </a:r>
          </a:p>
        </p:txBody>
      </p:sp>
      <p:sp>
        <p:nvSpPr>
          <p:cNvPr id="32771" name="Rectangle 3"/>
          <p:cNvSpPr>
            <a:spLocks noGrp="1" noChangeArrowheads="1"/>
          </p:cNvSpPr>
          <p:nvPr>
            <p:ph type="body" idx="1"/>
          </p:nvPr>
        </p:nvSpPr>
        <p:spPr>
          <a:xfrm>
            <a:off x="571500" y="1114425"/>
            <a:ext cx="7848600" cy="4981575"/>
          </a:xfrm>
        </p:spPr>
        <p:txBody>
          <a:bodyPr/>
          <a:lstStyle/>
          <a:p>
            <a:pPr>
              <a:tabLst>
                <a:tab pos="1146175" algn="l"/>
                <a:tab pos="1890713" algn="l"/>
              </a:tabLst>
            </a:pPr>
            <a:r>
              <a:rPr lang="en-US" dirty="0"/>
              <a:t>The </a:t>
            </a:r>
            <a:r>
              <a:rPr lang="en-US" b="1" dirty="0"/>
              <a:t>check</a:t>
            </a:r>
            <a:r>
              <a:rPr lang="en-US" dirty="0"/>
              <a:t> clause in SQL-92 permits domains to be restricted:</a:t>
            </a:r>
          </a:p>
          <a:p>
            <a:pPr lvl="1">
              <a:tabLst>
                <a:tab pos="1146175" algn="l"/>
                <a:tab pos="1890713" algn="l"/>
              </a:tabLst>
            </a:pPr>
            <a:r>
              <a:rPr lang="en-US" dirty="0"/>
              <a:t>Use </a:t>
            </a:r>
            <a:r>
              <a:rPr lang="en-US" b="1" dirty="0"/>
              <a:t>check</a:t>
            </a:r>
            <a:r>
              <a:rPr lang="en-US" dirty="0"/>
              <a:t> clause to ensure that an hourly-wage domain allows only values greater than a specified value.</a:t>
            </a:r>
          </a:p>
          <a:p>
            <a:pPr lvl="1">
              <a:buFont typeface="Monotype Sorts" pitchFamily="2" charset="2"/>
              <a:buNone/>
              <a:tabLst>
                <a:tab pos="1146175" algn="l"/>
                <a:tab pos="1890713" algn="l"/>
              </a:tabLst>
            </a:pPr>
            <a:r>
              <a:rPr lang="en-US" dirty="0"/>
              <a:t>		</a:t>
            </a:r>
            <a:r>
              <a:rPr lang="en-US" b="1" dirty="0"/>
              <a:t>create domain</a:t>
            </a:r>
            <a:r>
              <a:rPr lang="en-US" i="1" dirty="0"/>
              <a:t> hourly-wage </a:t>
            </a:r>
            <a:r>
              <a:rPr lang="en-US" b="1" dirty="0"/>
              <a:t>numeric(5,2)</a:t>
            </a:r>
            <a:br>
              <a:rPr lang="en-US" b="1" dirty="0"/>
            </a:br>
            <a:r>
              <a:rPr lang="en-US" b="1" dirty="0"/>
              <a:t>		constraint</a:t>
            </a:r>
            <a:r>
              <a:rPr lang="en-US" dirty="0"/>
              <a:t> </a:t>
            </a:r>
            <a:r>
              <a:rPr lang="en-US" i="1" dirty="0"/>
              <a:t>value-test </a:t>
            </a:r>
            <a:r>
              <a:rPr lang="en-US" b="1" dirty="0"/>
              <a:t>check</a:t>
            </a:r>
            <a:r>
              <a:rPr lang="en-US" i="1" dirty="0"/>
              <a:t>(value </a:t>
            </a:r>
            <a:r>
              <a:rPr lang="en-US" dirty="0"/>
              <a:t>&gt; = 4.00)</a:t>
            </a:r>
          </a:p>
          <a:p>
            <a:pPr lvl="1">
              <a:tabLst>
                <a:tab pos="1146175" algn="l"/>
                <a:tab pos="1890713" algn="l"/>
              </a:tabLst>
            </a:pPr>
            <a:r>
              <a:rPr lang="en-US" dirty="0"/>
              <a:t>The domain has a constraint that ensures that the hourly-wage is greater than 4.00</a:t>
            </a:r>
          </a:p>
          <a:p>
            <a:pPr lvl="1">
              <a:tabLst>
                <a:tab pos="1146175" algn="l"/>
                <a:tab pos="1890713" algn="l"/>
              </a:tabLst>
            </a:pPr>
            <a:r>
              <a:rPr lang="en-US" dirty="0"/>
              <a:t>The clause </a:t>
            </a:r>
            <a:r>
              <a:rPr lang="en-US" b="1" dirty="0"/>
              <a:t>constraint</a:t>
            </a:r>
            <a:r>
              <a:rPr lang="en-US" dirty="0"/>
              <a:t> </a:t>
            </a:r>
            <a:r>
              <a:rPr lang="en-US" i="1" dirty="0"/>
              <a:t>value-test</a:t>
            </a:r>
            <a:r>
              <a:rPr lang="en-US" dirty="0"/>
              <a:t> is optional; useful to indicate which constraint an update violated.</a:t>
            </a:r>
          </a:p>
          <a:p>
            <a:pPr>
              <a:tabLst>
                <a:tab pos="1146175" algn="l"/>
                <a:tab pos="1890713" algn="l"/>
              </a:tabLst>
            </a:pPr>
            <a:r>
              <a:rPr lang="en-US" dirty="0"/>
              <a:t>Can have complex conditions in domain check</a:t>
            </a:r>
          </a:p>
          <a:p>
            <a:pPr lvl="1">
              <a:tabLst>
                <a:tab pos="1146175" algn="l"/>
                <a:tab pos="1890713" algn="l"/>
              </a:tabLst>
            </a:pPr>
            <a:r>
              <a:rPr lang="en-US" b="1" dirty="0"/>
              <a:t>create</a:t>
            </a:r>
            <a:r>
              <a:rPr lang="en-US" dirty="0"/>
              <a:t> </a:t>
            </a:r>
            <a:r>
              <a:rPr lang="en-US" b="1" dirty="0"/>
              <a:t>domain</a:t>
            </a:r>
            <a:r>
              <a:rPr lang="en-US" dirty="0"/>
              <a:t> </a:t>
            </a:r>
            <a:r>
              <a:rPr lang="en-US" i="1" dirty="0" err="1"/>
              <a:t>AccountType</a:t>
            </a:r>
            <a:r>
              <a:rPr lang="en-US" dirty="0"/>
              <a:t> </a:t>
            </a:r>
            <a:r>
              <a:rPr lang="en-US" b="1" dirty="0"/>
              <a:t>char</a:t>
            </a:r>
            <a:r>
              <a:rPr lang="en-US" dirty="0"/>
              <a:t>(10)</a:t>
            </a:r>
            <a:br>
              <a:rPr lang="en-US" dirty="0"/>
            </a:br>
            <a:r>
              <a:rPr lang="en-US" dirty="0"/>
              <a:t>    </a:t>
            </a:r>
            <a:r>
              <a:rPr lang="en-US" b="1" dirty="0"/>
              <a:t>constraint</a:t>
            </a:r>
            <a:r>
              <a:rPr lang="en-US" dirty="0"/>
              <a:t> </a:t>
            </a:r>
            <a:r>
              <a:rPr lang="en-US" i="1" dirty="0"/>
              <a:t>account</a:t>
            </a:r>
            <a:r>
              <a:rPr lang="en-US" dirty="0"/>
              <a:t>-</a:t>
            </a:r>
            <a:r>
              <a:rPr lang="en-US" i="1" dirty="0"/>
              <a:t>type</a:t>
            </a:r>
            <a:r>
              <a:rPr lang="en-US" dirty="0"/>
              <a:t>-</a:t>
            </a:r>
            <a:r>
              <a:rPr lang="en-US" i="1" dirty="0"/>
              <a:t>test</a:t>
            </a:r>
            <a:r>
              <a:rPr lang="en-US" dirty="0"/>
              <a:t> </a:t>
            </a:r>
            <a:br>
              <a:rPr lang="en-US" dirty="0"/>
            </a:br>
            <a:r>
              <a:rPr lang="en-US" dirty="0"/>
              <a:t>          </a:t>
            </a:r>
            <a:r>
              <a:rPr lang="en-US" b="1" dirty="0"/>
              <a:t>check</a:t>
            </a:r>
            <a:r>
              <a:rPr lang="en-US" dirty="0"/>
              <a:t> (</a:t>
            </a:r>
            <a:r>
              <a:rPr lang="en-US" b="1" dirty="0"/>
              <a:t>value</a:t>
            </a:r>
            <a:r>
              <a:rPr lang="en-US" dirty="0"/>
              <a:t> </a:t>
            </a:r>
            <a:r>
              <a:rPr lang="en-US" b="1" dirty="0"/>
              <a:t>in</a:t>
            </a:r>
            <a:r>
              <a:rPr lang="en-US" dirty="0"/>
              <a:t> (‘Checking’, ‘Saving’))</a:t>
            </a:r>
          </a:p>
          <a:p>
            <a:pPr lvl="1">
              <a:tabLst>
                <a:tab pos="1146175" algn="l"/>
                <a:tab pos="1890713" algn="l"/>
              </a:tabLst>
            </a:pPr>
            <a:r>
              <a:rPr lang="en-US" b="1" dirty="0"/>
              <a:t>check</a:t>
            </a:r>
            <a:r>
              <a:rPr lang="en-US" dirty="0"/>
              <a:t> (</a:t>
            </a:r>
            <a:r>
              <a:rPr lang="en-US" i="1" dirty="0"/>
              <a:t>branch</a:t>
            </a:r>
            <a:r>
              <a:rPr lang="en-US" dirty="0"/>
              <a:t>-</a:t>
            </a:r>
            <a:r>
              <a:rPr lang="en-US" i="1" dirty="0"/>
              <a:t>name</a:t>
            </a:r>
            <a:r>
              <a:rPr lang="en-US" dirty="0"/>
              <a:t> </a:t>
            </a:r>
            <a:r>
              <a:rPr lang="en-US" b="1" dirty="0"/>
              <a:t>in</a:t>
            </a:r>
            <a:r>
              <a:rPr lang="en-US" dirty="0"/>
              <a:t> (</a:t>
            </a:r>
            <a:r>
              <a:rPr lang="en-US" b="1" dirty="0"/>
              <a:t>select</a:t>
            </a:r>
            <a:r>
              <a:rPr lang="en-US" dirty="0"/>
              <a:t> </a:t>
            </a:r>
            <a:r>
              <a:rPr lang="en-US" i="1" dirty="0"/>
              <a:t>branch</a:t>
            </a:r>
            <a:r>
              <a:rPr lang="en-US" dirty="0"/>
              <a:t>-</a:t>
            </a:r>
            <a:r>
              <a:rPr lang="en-US" i="1" dirty="0"/>
              <a:t>name</a:t>
            </a:r>
            <a:r>
              <a:rPr lang="en-US" dirty="0"/>
              <a:t> </a:t>
            </a:r>
            <a:r>
              <a:rPr lang="en-US" b="1" dirty="0"/>
              <a:t>from</a:t>
            </a:r>
            <a:r>
              <a:rPr lang="en-US" dirty="0"/>
              <a:t> </a:t>
            </a:r>
            <a:r>
              <a:rPr lang="en-US" i="1" dirty="0"/>
              <a:t>branch</a:t>
            </a:r>
            <a:r>
              <a:rPr lang="en-US" dirty="0"/>
              <a:t>))</a:t>
            </a:r>
          </a:p>
        </p:txBody>
      </p:sp>
      <p:sp>
        <p:nvSpPr>
          <p:cNvPr id="5" name="Slide Number Placeholder 4"/>
          <p:cNvSpPr>
            <a:spLocks noGrp="1"/>
          </p:cNvSpPr>
          <p:nvPr>
            <p:ph type="sldNum" sz="quarter" idx="11"/>
          </p:nvPr>
        </p:nvSpPr>
        <p:spPr/>
        <p:txBody>
          <a:bodyPr/>
          <a:lstStyle/>
          <a:p>
            <a:fld id="{0CE8B4ED-F473-44DC-8BCA-08AC378C3B98}" type="slidenum">
              <a:rPr lang="en-US" smtClean="0"/>
              <a:pPr/>
              <a:t>3</a:t>
            </a:fld>
            <a:endParaRPr lang="en-US"/>
          </a:p>
        </p:txBody>
      </p:sp>
      <p:sp>
        <p:nvSpPr>
          <p:cNvPr id="6" name="Date Placeholder 5"/>
          <p:cNvSpPr>
            <a:spLocks noGrp="1"/>
          </p:cNvSpPr>
          <p:nvPr>
            <p:ph type="dt" sz="half" idx="10"/>
          </p:nvPr>
        </p:nvSpPr>
        <p:spPr/>
        <p:txBody>
          <a:bodyPr/>
          <a:lstStyle/>
          <a:p>
            <a:fld id="{10958F4F-E8E7-4CE0-B506-C6790F8FF33D}" type="datetime1">
              <a:rPr lang="en-US" smtClean="0"/>
              <a:t>10/29/2024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t>Referential Integrity</a:t>
            </a:r>
          </a:p>
        </p:txBody>
      </p:sp>
      <p:sp>
        <p:nvSpPr>
          <p:cNvPr id="33795" name="Rectangle 3"/>
          <p:cNvSpPr>
            <a:spLocks noGrp="1" noChangeArrowheads="1"/>
          </p:cNvSpPr>
          <p:nvPr>
            <p:ph type="body" idx="1"/>
          </p:nvPr>
        </p:nvSpPr>
        <p:spPr>
          <a:xfrm>
            <a:off x="571500" y="1114425"/>
            <a:ext cx="8115300" cy="4876800"/>
          </a:xfrm>
        </p:spPr>
        <p:txBody>
          <a:bodyPr/>
          <a:lstStyle/>
          <a:p>
            <a:r>
              <a:rPr lang="en-US" dirty="0"/>
              <a:t>Ensures that a value that appears in one relation for a given set of attributes also appears for a certain set of attributes in another relation.</a:t>
            </a:r>
          </a:p>
          <a:p>
            <a:pPr lvl="1"/>
            <a:r>
              <a:rPr lang="en-US" dirty="0"/>
              <a:t>Example:  If “</a:t>
            </a:r>
            <a:r>
              <a:rPr lang="en-US" dirty="0" err="1"/>
              <a:t>Perryridge</a:t>
            </a:r>
            <a:r>
              <a:rPr lang="en-US" dirty="0"/>
              <a:t>” is a branch name appearing in one of the tuples in the </a:t>
            </a:r>
            <a:r>
              <a:rPr lang="en-US" i="1" dirty="0"/>
              <a:t>account</a:t>
            </a:r>
            <a:r>
              <a:rPr lang="en-US" dirty="0"/>
              <a:t> relation, then there exists a tuple in the </a:t>
            </a:r>
            <a:r>
              <a:rPr lang="en-US" i="1" dirty="0"/>
              <a:t>branch</a:t>
            </a:r>
            <a:r>
              <a:rPr lang="en-US" dirty="0"/>
              <a:t> relation for branch “</a:t>
            </a:r>
            <a:r>
              <a:rPr lang="en-US" dirty="0" err="1"/>
              <a:t>Perryridge</a:t>
            </a:r>
            <a:r>
              <a:rPr lang="en-US" dirty="0"/>
              <a:t>”.</a:t>
            </a:r>
          </a:p>
          <a:p>
            <a:r>
              <a:rPr lang="en-US" dirty="0"/>
              <a:t>Formal Definition</a:t>
            </a:r>
          </a:p>
          <a:p>
            <a:pPr lvl="1"/>
            <a:r>
              <a:rPr lang="en-US" dirty="0"/>
              <a:t>Let </a:t>
            </a:r>
            <a:r>
              <a:rPr lang="en-US" i="1" dirty="0"/>
              <a:t>r</a:t>
            </a:r>
            <a:r>
              <a:rPr lang="en-US" sz="2400" baseline="-25000" dirty="0"/>
              <a:t>1</a:t>
            </a:r>
            <a:r>
              <a:rPr lang="en-US" dirty="0"/>
              <a:t>(</a:t>
            </a:r>
            <a:r>
              <a:rPr lang="en-US" i="1" dirty="0"/>
              <a:t>R</a:t>
            </a:r>
            <a:r>
              <a:rPr lang="en-US" sz="2000" baseline="-25000" dirty="0"/>
              <a:t>1</a:t>
            </a:r>
            <a:r>
              <a:rPr lang="en-US" dirty="0"/>
              <a:t>) and </a:t>
            </a:r>
            <a:r>
              <a:rPr lang="en-US" i="1" dirty="0"/>
              <a:t>r</a:t>
            </a:r>
            <a:r>
              <a:rPr lang="en-US" sz="2400" baseline="-25000" dirty="0"/>
              <a:t>2</a:t>
            </a:r>
            <a:r>
              <a:rPr lang="en-US" dirty="0"/>
              <a:t>(</a:t>
            </a:r>
            <a:r>
              <a:rPr lang="en-US" i="1" dirty="0"/>
              <a:t>R</a:t>
            </a:r>
            <a:r>
              <a:rPr lang="en-US" sz="2400" baseline="-25000" dirty="0"/>
              <a:t>2</a:t>
            </a:r>
            <a:r>
              <a:rPr lang="en-US" dirty="0"/>
              <a:t>) be relations with primary keys </a:t>
            </a:r>
            <a:r>
              <a:rPr lang="en-US" i="1" dirty="0"/>
              <a:t>K</a:t>
            </a:r>
            <a:r>
              <a:rPr lang="en-US" sz="2400" baseline="-25000" dirty="0"/>
              <a:t>1</a:t>
            </a:r>
            <a:r>
              <a:rPr lang="en-US" dirty="0"/>
              <a:t> and </a:t>
            </a:r>
            <a:r>
              <a:rPr lang="en-US" i="1" dirty="0"/>
              <a:t>K</a:t>
            </a:r>
            <a:r>
              <a:rPr lang="en-US" sz="2400" baseline="-25000" dirty="0"/>
              <a:t>2</a:t>
            </a:r>
            <a:r>
              <a:rPr lang="en-US" dirty="0"/>
              <a:t> respectively.</a:t>
            </a:r>
          </a:p>
          <a:p>
            <a:pPr lvl="1"/>
            <a:r>
              <a:rPr lang="en-US" dirty="0"/>
              <a:t>The subset </a:t>
            </a:r>
            <a:r>
              <a:rPr lang="en-US" dirty="0">
                <a:sym typeface="Symbol" pitchFamily="18" charset="2"/>
              </a:rPr>
              <a:t> of R</a:t>
            </a:r>
            <a:r>
              <a:rPr lang="en-US" sz="2400" baseline="-25000" dirty="0">
                <a:sym typeface="Symbol" pitchFamily="18" charset="2"/>
              </a:rPr>
              <a:t>2</a:t>
            </a:r>
            <a:r>
              <a:rPr lang="en-US" dirty="0">
                <a:sym typeface="Symbol" pitchFamily="18" charset="2"/>
              </a:rPr>
              <a:t> is a </a:t>
            </a:r>
            <a:r>
              <a:rPr lang="en-US" b="1" i="1" dirty="0">
                <a:solidFill>
                  <a:schemeClr val="tx2"/>
                </a:solidFill>
                <a:sym typeface="Symbol" pitchFamily="18" charset="2"/>
              </a:rPr>
              <a:t>foreign key</a:t>
            </a:r>
            <a:r>
              <a:rPr lang="en-US" dirty="0">
                <a:sym typeface="Symbol" pitchFamily="18" charset="2"/>
              </a:rPr>
              <a:t> referencing </a:t>
            </a:r>
            <a:r>
              <a:rPr lang="en-US" i="1" dirty="0"/>
              <a:t>K</a:t>
            </a:r>
            <a:r>
              <a:rPr lang="en-US" sz="2400" baseline="-25000" dirty="0"/>
              <a:t>1</a:t>
            </a:r>
            <a:r>
              <a:rPr lang="en-US" dirty="0">
                <a:sym typeface="Symbol" pitchFamily="18" charset="2"/>
              </a:rPr>
              <a:t> </a:t>
            </a:r>
            <a:r>
              <a:rPr lang="en-US" dirty="0"/>
              <a:t>in relation </a:t>
            </a:r>
            <a:r>
              <a:rPr lang="en-US" i="1" dirty="0"/>
              <a:t>r</a:t>
            </a:r>
            <a:r>
              <a:rPr lang="en-US" sz="2400" baseline="-25000" dirty="0"/>
              <a:t>1</a:t>
            </a:r>
            <a:r>
              <a:rPr lang="en-US" dirty="0"/>
              <a:t>, if for every </a:t>
            </a:r>
            <a:r>
              <a:rPr lang="en-US" i="1" dirty="0"/>
              <a:t>t</a:t>
            </a:r>
            <a:r>
              <a:rPr lang="en-US" sz="2400" baseline="-25000" dirty="0"/>
              <a:t>2</a:t>
            </a:r>
            <a:r>
              <a:rPr lang="en-US" dirty="0"/>
              <a:t> in </a:t>
            </a:r>
            <a:r>
              <a:rPr lang="en-US" i="1" dirty="0"/>
              <a:t>r</a:t>
            </a:r>
            <a:r>
              <a:rPr lang="en-US" sz="2400" baseline="-25000" dirty="0"/>
              <a:t>2</a:t>
            </a:r>
            <a:r>
              <a:rPr lang="en-US" dirty="0"/>
              <a:t> there must be a tuple </a:t>
            </a:r>
            <a:r>
              <a:rPr lang="en-US" i="1" dirty="0"/>
              <a:t>t</a:t>
            </a:r>
            <a:r>
              <a:rPr lang="en-US" sz="2400" baseline="-25000" dirty="0"/>
              <a:t>1</a:t>
            </a:r>
            <a:r>
              <a:rPr lang="en-US" dirty="0"/>
              <a:t> in </a:t>
            </a:r>
            <a:r>
              <a:rPr lang="en-US" i="1" dirty="0"/>
              <a:t>r</a:t>
            </a:r>
            <a:r>
              <a:rPr lang="en-US" sz="2400" baseline="-25000" dirty="0"/>
              <a:t>1</a:t>
            </a:r>
            <a:r>
              <a:rPr lang="en-US" dirty="0"/>
              <a:t> such that </a:t>
            </a:r>
            <a:r>
              <a:rPr lang="en-US" i="1" dirty="0"/>
              <a:t>t</a:t>
            </a:r>
            <a:r>
              <a:rPr lang="en-US" sz="2400" baseline="-25000" dirty="0"/>
              <a:t>1</a:t>
            </a:r>
            <a:r>
              <a:rPr lang="en-US" dirty="0"/>
              <a:t>[</a:t>
            </a:r>
            <a:r>
              <a:rPr lang="en-US" i="1" dirty="0"/>
              <a:t>K</a:t>
            </a:r>
            <a:r>
              <a:rPr lang="en-US" sz="2400" baseline="-25000" dirty="0"/>
              <a:t>1</a:t>
            </a:r>
            <a:r>
              <a:rPr lang="en-US" dirty="0"/>
              <a:t>] = </a:t>
            </a:r>
            <a:r>
              <a:rPr lang="en-US" i="1" dirty="0"/>
              <a:t>t</a:t>
            </a:r>
            <a:r>
              <a:rPr lang="en-US" sz="2400" baseline="-25000" dirty="0"/>
              <a:t>2</a:t>
            </a:r>
            <a:r>
              <a:rPr lang="en-US" dirty="0"/>
              <a:t>[</a:t>
            </a:r>
            <a:r>
              <a:rPr lang="en-US" dirty="0">
                <a:sym typeface="Symbol" pitchFamily="18" charset="2"/>
              </a:rPr>
              <a:t></a:t>
            </a:r>
            <a:r>
              <a:rPr lang="en-US" dirty="0" smtClean="0">
                <a:sym typeface="Symbol" pitchFamily="18" charset="2"/>
              </a:rPr>
              <a:t>].</a:t>
            </a:r>
            <a:endParaRPr lang="en-US" dirty="0">
              <a:sym typeface="Symbol" pitchFamily="18" charset="2"/>
            </a:endParaRPr>
          </a:p>
        </p:txBody>
      </p:sp>
      <p:sp>
        <p:nvSpPr>
          <p:cNvPr id="5" name="Slide Number Placeholder 4"/>
          <p:cNvSpPr>
            <a:spLocks noGrp="1"/>
          </p:cNvSpPr>
          <p:nvPr>
            <p:ph type="sldNum" sz="quarter" idx="11"/>
          </p:nvPr>
        </p:nvSpPr>
        <p:spPr/>
        <p:txBody>
          <a:bodyPr/>
          <a:lstStyle/>
          <a:p>
            <a:fld id="{0CE8B4ED-F473-44DC-8BCA-08AC378C3B98}" type="slidenum">
              <a:rPr lang="en-US" smtClean="0"/>
              <a:pPr/>
              <a:t>4</a:t>
            </a:fld>
            <a:endParaRPr lang="en-US"/>
          </a:p>
        </p:txBody>
      </p:sp>
      <p:sp>
        <p:nvSpPr>
          <p:cNvPr id="6" name="Date Placeholder 5"/>
          <p:cNvSpPr>
            <a:spLocks noGrp="1"/>
          </p:cNvSpPr>
          <p:nvPr>
            <p:ph type="dt" sz="half" idx="10"/>
          </p:nvPr>
        </p:nvSpPr>
        <p:spPr/>
        <p:txBody>
          <a:bodyPr/>
          <a:lstStyle/>
          <a:p>
            <a:fld id="{26D52872-0236-4502-8E95-602C40017612}" type="datetime1">
              <a:rPr lang="en-US" smtClean="0"/>
              <a:t>10/29/2024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Referential Integrity in SQL</a:t>
            </a:r>
          </a:p>
        </p:txBody>
      </p:sp>
      <p:sp>
        <p:nvSpPr>
          <p:cNvPr id="37891" name="Rectangle 3"/>
          <p:cNvSpPr>
            <a:spLocks noGrp="1" noChangeArrowheads="1"/>
          </p:cNvSpPr>
          <p:nvPr>
            <p:ph type="body" idx="1"/>
          </p:nvPr>
        </p:nvSpPr>
        <p:spPr/>
        <p:txBody>
          <a:bodyPr/>
          <a:lstStyle/>
          <a:p>
            <a:r>
              <a:rPr lang="en-US"/>
              <a:t>Primary and candidate keys and foreign keys can be specified as part of the SQL </a:t>
            </a:r>
            <a:r>
              <a:rPr lang="en-US" b="1"/>
              <a:t>create table</a:t>
            </a:r>
            <a:r>
              <a:rPr lang="en-US"/>
              <a:t> statement:</a:t>
            </a:r>
          </a:p>
          <a:p>
            <a:pPr lvl="1"/>
            <a:r>
              <a:rPr lang="en-US"/>
              <a:t>The </a:t>
            </a:r>
            <a:r>
              <a:rPr lang="en-US" b="1"/>
              <a:t>primary key</a:t>
            </a:r>
            <a:r>
              <a:rPr lang="en-US"/>
              <a:t> clause of the </a:t>
            </a:r>
            <a:r>
              <a:rPr lang="en-US" b="1"/>
              <a:t>create table</a:t>
            </a:r>
            <a:r>
              <a:rPr lang="en-US"/>
              <a:t> statement includes a list of the attributes that comprise the primary key.</a:t>
            </a:r>
          </a:p>
          <a:p>
            <a:pPr lvl="1"/>
            <a:r>
              <a:rPr lang="en-US"/>
              <a:t>The </a:t>
            </a:r>
            <a:r>
              <a:rPr lang="en-US" b="1"/>
              <a:t>unique key</a:t>
            </a:r>
            <a:r>
              <a:rPr lang="en-US"/>
              <a:t> clause of the </a:t>
            </a:r>
            <a:r>
              <a:rPr lang="en-US" b="1"/>
              <a:t>create table </a:t>
            </a:r>
            <a:r>
              <a:rPr lang="en-US"/>
              <a:t>statement includes a list of the attributes that comprise a candidate key.</a:t>
            </a:r>
          </a:p>
          <a:p>
            <a:pPr lvl="1"/>
            <a:r>
              <a:rPr lang="en-US"/>
              <a:t>The </a:t>
            </a:r>
            <a:r>
              <a:rPr lang="en-US" b="1"/>
              <a:t>foreign key</a:t>
            </a:r>
            <a:r>
              <a:rPr lang="en-US"/>
              <a:t> clause of the </a:t>
            </a:r>
            <a:r>
              <a:rPr lang="en-US" b="1"/>
              <a:t>create table</a:t>
            </a:r>
            <a:r>
              <a:rPr lang="en-US"/>
              <a:t> statement includes both a list of the attributes that comprise the foreign key and the name of the relation referenced by the foreign key.</a:t>
            </a:r>
          </a:p>
        </p:txBody>
      </p:sp>
      <p:sp>
        <p:nvSpPr>
          <p:cNvPr id="5" name="Slide Number Placeholder 4"/>
          <p:cNvSpPr>
            <a:spLocks noGrp="1"/>
          </p:cNvSpPr>
          <p:nvPr>
            <p:ph type="sldNum" sz="quarter" idx="11"/>
          </p:nvPr>
        </p:nvSpPr>
        <p:spPr/>
        <p:txBody>
          <a:bodyPr/>
          <a:lstStyle/>
          <a:p>
            <a:fld id="{0CE8B4ED-F473-44DC-8BCA-08AC378C3B98}" type="slidenum">
              <a:rPr lang="en-US" smtClean="0"/>
              <a:pPr/>
              <a:t>5</a:t>
            </a:fld>
            <a:endParaRPr lang="en-US"/>
          </a:p>
        </p:txBody>
      </p:sp>
      <p:sp>
        <p:nvSpPr>
          <p:cNvPr id="6" name="Date Placeholder 5"/>
          <p:cNvSpPr>
            <a:spLocks noGrp="1"/>
          </p:cNvSpPr>
          <p:nvPr>
            <p:ph type="dt" sz="half" idx="10"/>
          </p:nvPr>
        </p:nvSpPr>
        <p:spPr/>
        <p:txBody>
          <a:bodyPr/>
          <a:lstStyle/>
          <a:p>
            <a:fld id="{D1830B63-9F0A-4EA5-AC10-C91331E5E95B}" type="datetime1">
              <a:rPr lang="en-US" smtClean="0"/>
              <a:t>10/29/2024</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Referential Integrity in SQL – Example</a:t>
            </a:r>
          </a:p>
        </p:txBody>
      </p:sp>
      <p:sp>
        <p:nvSpPr>
          <p:cNvPr id="38915" name="Rectangle 3"/>
          <p:cNvSpPr>
            <a:spLocks noGrp="1" noChangeArrowheads="1"/>
          </p:cNvSpPr>
          <p:nvPr>
            <p:ph type="body" idx="1"/>
          </p:nvPr>
        </p:nvSpPr>
        <p:spPr>
          <a:xfrm>
            <a:off x="1371600" y="1371600"/>
            <a:ext cx="6724650" cy="4114800"/>
          </a:xfrm>
        </p:spPr>
        <p:txBody>
          <a:bodyPr/>
          <a:lstStyle/>
          <a:p>
            <a:pPr>
              <a:buFont typeface="Monotype Sorts" pitchFamily="2" charset="2"/>
              <a:buNone/>
              <a:tabLst>
                <a:tab pos="2395538" algn="l"/>
              </a:tabLst>
            </a:pPr>
            <a:r>
              <a:rPr lang="en-US" b="1"/>
              <a:t>create table </a:t>
            </a:r>
            <a:r>
              <a:rPr lang="en-US" i="1"/>
              <a:t>customer</a:t>
            </a:r>
            <a:br>
              <a:rPr lang="en-US" i="1"/>
            </a:br>
            <a:r>
              <a:rPr lang="en-US" i="1"/>
              <a:t>(customer-name	</a:t>
            </a:r>
            <a:r>
              <a:rPr lang="en-US"/>
              <a:t>char(20)</a:t>
            </a:r>
            <a:r>
              <a:rPr lang="en-US" b="1"/>
              <a:t>,</a:t>
            </a:r>
            <a:br>
              <a:rPr lang="en-US" b="1"/>
            </a:br>
            <a:r>
              <a:rPr lang="en-US" i="1"/>
              <a:t>customer-street	</a:t>
            </a:r>
            <a:r>
              <a:rPr lang="en-US"/>
              <a:t>char(30),</a:t>
            </a:r>
            <a:br>
              <a:rPr lang="en-US"/>
            </a:br>
            <a:r>
              <a:rPr lang="en-US" i="1"/>
              <a:t>customer-city	</a:t>
            </a:r>
            <a:r>
              <a:rPr lang="en-US"/>
              <a:t>char(30),</a:t>
            </a:r>
            <a:br>
              <a:rPr lang="en-US"/>
            </a:br>
            <a:r>
              <a:rPr lang="en-US" b="1"/>
              <a:t>primary key</a:t>
            </a:r>
            <a:r>
              <a:rPr lang="en-US"/>
              <a:t> (</a:t>
            </a:r>
            <a:r>
              <a:rPr lang="en-US" i="1"/>
              <a:t>customer-name))</a:t>
            </a:r>
            <a:endParaRPr lang="en-US"/>
          </a:p>
          <a:p>
            <a:pPr>
              <a:buFont typeface="Monotype Sorts" pitchFamily="2" charset="2"/>
              <a:buNone/>
              <a:tabLst>
                <a:tab pos="2395538" algn="l"/>
              </a:tabLst>
            </a:pPr>
            <a:r>
              <a:rPr lang="en-US" b="1"/>
              <a:t>create table </a:t>
            </a:r>
            <a:r>
              <a:rPr lang="en-US" i="1"/>
              <a:t>branch</a:t>
            </a:r>
            <a:br>
              <a:rPr lang="en-US" i="1"/>
            </a:br>
            <a:r>
              <a:rPr lang="en-US"/>
              <a:t>(branch-name	char(15)</a:t>
            </a:r>
            <a:r>
              <a:rPr lang="en-US" b="1"/>
              <a:t>,</a:t>
            </a:r>
            <a:br>
              <a:rPr lang="en-US" b="1"/>
            </a:br>
            <a:r>
              <a:rPr lang="en-US" i="1"/>
              <a:t>branch-city	</a:t>
            </a:r>
            <a:r>
              <a:rPr lang="en-US"/>
              <a:t>char(30),</a:t>
            </a:r>
            <a:br>
              <a:rPr lang="en-US"/>
            </a:br>
            <a:r>
              <a:rPr lang="en-US" i="1"/>
              <a:t>assets	</a:t>
            </a:r>
            <a:r>
              <a:rPr lang="en-US"/>
              <a:t>integer,</a:t>
            </a:r>
            <a:br>
              <a:rPr lang="en-US"/>
            </a:br>
            <a:r>
              <a:rPr lang="en-US" b="1"/>
              <a:t>primary key</a:t>
            </a:r>
            <a:r>
              <a:rPr lang="en-US" b="1" i="1"/>
              <a:t> </a:t>
            </a:r>
            <a:r>
              <a:rPr lang="en-US" i="1"/>
              <a:t>(branch-name))</a:t>
            </a:r>
            <a:endParaRPr lang="en-US" b="1"/>
          </a:p>
        </p:txBody>
      </p:sp>
      <p:sp>
        <p:nvSpPr>
          <p:cNvPr id="5" name="Slide Number Placeholder 4"/>
          <p:cNvSpPr>
            <a:spLocks noGrp="1"/>
          </p:cNvSpPr>
          <p:nvPr>
            <p:ph type="sldNum" sz="quarter" idx="11"/>
          </p:nvPr>
        </p:nvSpPr>
        <p:spPr/>
        <p:txBody>
          <a:bodyPr/>
          <a:lstStyle/>
          <a:p>
            <a:fld id="{0CE8B4ED-F473-44DC-8BCA-08AC378C3B98}" type="slidenum">
              <a:rPr lang="en-US" smtClean="0"/>
              <a:pPr/>
              <a:t>6</a:t>
            </a:fld>
            <a:endParaRPr lang="en-US"/>
          </a:p>
        </p:txBody>
      </p:sp>
      <p:sp>
        <p:nvSpPr>
          <p:cNvPr id="6" name="Date Placeholder 5"/>
          <p:cNvSpPr>
            <a:spLocks noGrp="1"/>
          </p:cNvSpPr>
          <p:nvPr>
            <p:ph type="dt" sz="half" idx="10"/>
          </p:nvPr>
        </p:nvSpPr>
        <p:spPr/>
        <p:txBody>
          <a:bodyPr/>
          <a:lstStyle/>
          <a:p>
            <a:fld id="{F1D43A3C-83F8-4B16-98E3-13F1179B7ADC}" type="datetime1">
              <a:rPr lang="en-US" smtClean="0"/>
              <a:t>10/29/2024</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8600" y="228600"/>
            <a:ext cx="9220200" cy="457200"/>
          </a:xfrm>
        </p:spPr>
        <p:txBody>
          <a:bodyPr/>
          <a:lstStyle/>
          <a:p>
            <a:r>
              <a:rPr lang="en-US" sz="2800"/>
              <a:t>Referential Integrity in SQL – Example (Cont.)</a:t>
            </a:r>
          </a:p>
        </p:txBody>
      </p:sp>
      <p:sp>
        <p:nvSpPr>
          <p:cNvPr id="39939" name="Rectangle 3"/>
          <p:cNvSpPr>
            <a:spLocks noGrp="1" noChangeArrowheads="1"/>
          </p:cNvSpPr>
          <p:nvPr>
            <p:ph type="body" idx="1"/>
          </p:nvPr>
        </p:nvSpPr>
        <p:spPr>
          <a:xfrm>
            <a:off x="1600200" y="1371600"/>
            <a:ext cx="6724650" cy="4114800"/>
          </a:xfrm>
        </p:spPr>
        <p:txBody>
          <a:bodyPr/>
          <a:lstStyle/>
          <a:p>
            <a:pPr>
              <a:buFont typeface="Monotype Sorts" pitchFamily="2" charset="2"/>
              <a:buNone/>
              <a:tabLst>
                <a:tab pos="2173288" algn="l"/>
              </a:tabLst>
            </a:pPr>
            <a:r>
              <a:rPr lang="en-US" b="1"/>
              <a:t>create table</a:t>
            </a:r>
            <a:r>
              <a:rPr lang="en-US" i="1"/>
              <a:t> account</a:t>
            </a:r>
            <a:br>
              <a:rPr lang="en-US" i="1"/>
            </a:br>
            <a:r>
              <a:rPr lang="en-US" i="1"/>
              <a:t>(account-number	</a:t>
            </a:r>
            <a:r>
              <a:rPr lang="en-US"/>
              <a:t>char(10)</a:t>
            </a:r>
            <a:r>
              <a:rPr lang="en-US" b="1"/>
              <a:t>,</a:t>
            </a:r>
            <a:br>
              <a:rPr lang="en-US" b="1"/>
            </a:br>
            <a:r>
              <a:rPr lang="en-US" i="1"/>
              <a:t>branch-name	</a:t>
            </a:r>
            <a:r>
              <a:rPr lang="en-US"/>
              <a:t>char(15),</a:t>
            </a:r>
            <a:br>
              <a:rPr lang="en-US"/>
            </a:br>
            <a:r>
              <a:rPr lang="en-US" i="1"/>
              <a:t>balance	</a:t>
            </a:r>
            <a:r>
              <a:rPr lang="en-US"/>
              <a:t>integer,</a:t>
            </a:r>
            <a:br>
              <a:rPr lang="en-US"/>
            </a:br>
            <a:r>
              <a:rPr lang="en-US" b="1"/>
              <a:t>primary key</a:t>
            </a:r>
            <a:r>
              <a:rPr lang="en-US"/>
              <a:t> (</a:t>
            </a:r>
            <a:r>
              <a:rPr lang="en-US" i="1"/>
              <a:t>account-number), </a:t>
            </a:r>
            <a:br>
              <a:rPr lang="en-US" i="1"/>
            </a:br>
            <a:r>
              <a:rPr lang="en-US" b="1"/>
              <a:t>foreign key</a:t>
            </a:r>
            <a:r>
              <a:rPr lang="en-US"/>
              <a:t> (</a:t>
            </a:r>
            <a:r>
              <a:rPr lang="en-US" i="1"/>
              <a:t>branch-name) </a:t>
            </a:r>
            <a:r>
              <a:rPr lang="en-US" b="1"/>
              <a:t>references </a:t>
            </a:r>
            <a:r>
              <a:rPr lang="en-US" i="1"/>
              <a:t>branch)</a:t>
            </a:r>
          </a:p>
          <a:p>
            <a:pPr>
              <a:buFont typeface="Monotype Sorts" pitchFamily="2" charset="2"/>
              <a:buNone/>
              <a:tabLst>
                <a:tab pos="2173288" algn="l"/>
              </a:tabLst>
            </a:pPr>
            <a:r>
              <a:rPr lang="en-US" b="1"/>
              <a:t>create table </a:t>
            </a:r>
            <a:r>
              <a:rPr lang="en-US" i="1"/>
              <a:t>depositor</a:t>
            </a:r>
            <a:br>
              <a:rPr lang="en-US" i="1"/>
            </a:br>
            <a:r>
              <a:rPr lang="en-US" i="1"/>
              <a:t>(customer-name</a:t>
            </a:r>
            <a:r>
              <a:rPr lang="en-US"/>
              <a:t>	char(20)</a:t>
            </a:r>
            <a:r>
              <a:rPr lang="en-US" b="1"/>
              <a:t>,</a:t>
            </a:r>
            <a:br>
              <a:rPr lang="en-US" b="1"/>
            </a:br>
            <a:r>
              <a:rPr lang="en-US" i="1"/>
              <a:t>account-number	</a:t>
            </a:r>
            <a:r>
              <a:rPr lang="en-US"/>
              <a:t>char(10)</a:t>
            </a:r>
            <a:r>
              <a:rPr lang="en-US" b="1"/>
              <a:t>,</a:t>
            </a:r>
            <a:br>
              <a:rPr lang="en-US" b="1"/>
            </a:br>
            <a:r>
              <a:rPr lang="en-US" b="1"/>
              <a:t>primary key</a:t>
            </a:r>
            <a:r>
              <a:rPr lang="en-US" i="1"/>
              <a:t> (customer-name, account-number),</a:t>
            </a:r>
            <a:br>
              <a:rPr lang="en-US" i="1"/>
            </a:br>
            <a:r>
              <a:rPr lang="en-US" b="1"/>
              <a:t>foreign key</a:t>
            </a:r>
            <a:r>
              <a:rPr lang="en-US" i="1"/>
              <a:t> (account-number)</a:t>
            </a:r>
            <a:r>
              <a:rPr lang="en-US" b="1"/>
              <a:t> references </a:t>
            </a:r>
            <a:r>
              <a:rPr lang="en-US" i="1"/>
              <a:t>account,</a:t>
            </a:r>
            <a:br>
              <a:rPr lang="en-US" i="1"/>
            </a:br>
            <a:r>
              <a:rPr lang="en-US" b="1"/>
              <a:t>foreign key</a:t>
            </a:r>
            <a:r>
              <a:rPr lang="en-US" i="1"/>
              <a:t> (customer-name) </a:t>
            </a:r>
            <a:r>
              <a:rPr lang="en-US" b="1"/>
              <a:t>references </a:t>
            </a:r>
            <a:r>
              <a:rPr lang="en-US" i="1"/>
              <a:t>customer)</a:t>
            </a:r>
          </a:p>
        </p:txBody>
      </p:sp>
      <p:sp>
        <p:nvSpPr>
          <p:cNvPr id="5" name="Slide Number Placeholder 4"/>
          <p:cNvSpPr>
            <a:spLocks noGrp="1"/>
          </p:cNvSpPr>
          <p:nvPr>
            <p:ph type="sldNum" sz="quarter" idx="11"/>
          </p:nvPr>
        </p:nvSpPr>
        <p:spPr/>
        <p:txBody>
          <a:bodyPr/>
          <a:lstStyle/>
          <a:p>
            <a:fld id="{0CE8B4ED-F473-44DC-8BCA-08AC378C3B98}" type="slidenum">
              <a:rPr lang="en-US" smtClean="0"/>
              <a:pPr/>
              <a:t>7</a:t>
            </a:fld>
            <a:endParaRPr lang="en-US"/>
          </a:p>
        </p:txBody>
      </p:sp>
      <p:sp>
        <p:nvSpPr>
          <p:cNvPr id="6" name="Date Placeholder 5"/>
          <p:cNvSpPr>
            <a:spLocks noGrp="1"/>
          </p:cNvSpPr>
          <p:nvPr>
            <p:ph type="dt" sz="half" idx="10"/>
          </p:nvPr>
        </p:nvSpPr>
        <p:spPr/>
        <p:txBody>
          <a:bodyPr/>
          <a:lstStyle/>
          <a:p>
            <a:fld id="{7EDB1F2B-694E-4E18-AA6E-F03B23B0D093}" type="datetime1">
              <a:rPr lang="en-US" smtClean="0"/>
              <a:t>10/29/2024</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Cascading Actions in SQL</a:t>
            </a:r>
          </a:p>
        </p:txBody>
      </p:sp>
      <p:sp>
        <p:nvSpPr>
          <p:cNvPr id="40963" name="Rectangle 3"/>
          <p:cNvSpPr>
            <a:spLocks noGrp="1" noChangeArrowheads="1"/>
          </p:cNvSpPr>
          <p:nvPr>
            <p:ph type="body" idx="1"/>
          </p:nvPr>
        </p:nvSpPr>
        <p:spPr/>
        <p:txBody>
          <a:bodyPr/>
          <a:lstStyle/>
          <a:p>
            <a:pPr>
              <a:buFont typeface="Monotype Sorts" pitchFamily="2" charset="2"/>
              <a:buNone/>
              <a:tabLst>
                <a:tab pos="461963" algn="l"/>
                <a:tab pos="3319463" algn="l"/>
              </a:tabLst>
            </a:pPr>
            <a:r>
              <a:rPr lang="en-US" b="1"/>
              <a:t>create table </a:t>
            </a:r>
            <a:r>
              <a:rPr lang="en-US" i="1"/>
              <a:t>account</a:t>
            </a:r>
          </a:p>
          <a:p>
            <a:pPr>
              <a:buFont typeface="Monotype Sorts" pitchFamily="2" charset="2"/>
              <a:buNone/>
              <a:tabLst>
                <a:tab pos="461963" algn="l"/>
                <a:tab pos="3319463" algn="l"/>
              </a:tabLst>
            </a:pPr>
            <a:r>
              <a:rPr lang="en-US" i="1"/>
              <a:t>		. . .</a:t>
            </a:r>
            <a:br>
              <a:rPr lang="en-US" i="1"/>
            </a:br>
            <a:r>
              <a:rPr lang="en-US" i="1"/>
              <a:t>	</a:t>
            </a:r>
            <a:r>
              <a:rPr lang="en-US" b="1"/>
              <a:t>foreign key</a:t>
            </a:r>
            <a:r>
              <a:rPr lang="en-US" i="1"/>
              <a:t>(branch-name) 	</a:t>
            </a:r>
            <a:r>
              <a:rPr lang="en-US" b="1"/>
              <a:t>references </a:t>
            </a:r>
            <a:r>
              <a:rPr lang="en-US" i="1"/>
              <a:t>branch</a:t>
            </a:r>
            <a:br>
              <a:rPr lang="en-US" i="1"/>
            </a:br>
            <a:r>
              <a:rPr lang="en-US" i="1"/>
              <a:t>		</a:t>
            </a:r>
            <a:r>
              <a:rPr lang="en-US" b="1"/>
              <a:t>on delete cascade</a:t>
            </a:r>
            <a:br>
              <a:rPr lang="en-US" b="1"/>
            </a:br>
            <a:r>
              <a:rPr lang="en-US" b="1"/>
              <a:t>		on update cascade</a:t>
            </a:r>
            <a:br>
              <a:rPr lang="en-US" b="1"/>
            </a:br>
            <a:r>
              <a:rPr lang="en-US" b="1"/>
              <a:t>	</a:t>
            </a:r>
            <a:r>
              <a:rPr lang="en-US"/>
              <a:t>. . .</a:t>
            </a:r>
            <a:r>
              <a:rPr lang="en-US" b="1"/>
              <a:t> )</a:t>
            </a:r>
          </a:p>
          <a:p>
            <a:pPr>
              <a:tabLst>
                <a:tab pos="461963" algn="l"/>
                <a:tab pos="3319463" algn="l"/>
              </a:tabLst>
            </a:pPr>
            <a:r>
              <a:rPr lang="en-US"/>
              <a:t>Due to the </a:t>
            </a:r>
            <a:r>
              <a:rPr lang="en-US" b="1"/>
              <a:t>on delete cascade</a:t>
            </a:r>
            <a:r>
              <a:rPr lang="en-US"/>
              <a:t> clauses, if a delete of a tuple in </a:t>
            </a:r>
            <a:r>
              <a:rPr lang="en-US" i="1"/>
              <a:t>branch</a:t>
            </a:r>
            <a:r>
              <a:rPr lang="en-US" b="1" i="1"/>
              <a:t> </a:t>
            </a:r>
            <a:r>
              <a:rPr lang="en-US"/>
              <a:t>results in referential-integrity constraint violation, the delete “cascades” to the </a:t>
            </a:r>
            <a:r>
              <a:rPr lang="en-US" i="1"/>
              <a:t>account</a:t>
            </a:r>
            <a:r>
              <a:rPr lang="en-US"/>
              <a:t> relation, deleting the tuple that refers to the branch that was deleted.</a:t>
            </a:r>
          </a:p>
          <a:p>
            <a:pPr>
              <a:tabLst>
                <a:tab pos="461963" algn="l"/>
                <a:tab pos="3319463" algn="l"/>
              </a:tabLst>
            </a:pPr>
            <a:r>
              <a:rPr lang="en-US"/>
              <a:t>Cascading updates are similar.</a:t>
            </a:r>
          </a:p>
        </p:txBody>
      </p:sp>
      <p:sp>
        <p:nvSpPr>
          <p:cNvPr id="5" name="Slide Number Placeholder 4"/>
          <p:cNvSpPr>
            <a:spLocks noGrp="1"/>
          </p:cNvSpPr>
          <p:nvPr>
            <p:ph type="sldNum" sz="quarter" idx="11"/>
          </p:nvPr>
        </p:nvSpPr>
        <p:spPr/>
        <p:txBody>
          <a:bodyPr/>
          <a:lstStyle/>
          <a:p>
            <a:fld id="{0CE8B4ED-F473-44DC-8BCA-08AC378C3B98}" type="slidenum">
              <a:rPr lang="en-US" smtClean="0"/>
              <a:pPr/>
              <a:t>8</a:t>
            </a:fld>
            <a:endParaRPr lang="en-US"/>
          </a:p>
        </p:txBody>
      </p:sp>
      <p:sp>
        <p:nvSpPr>
          <p:cNvPr id="6" name="Date Placeholder 5"/>
          <p:cNvSpPr>
            <a:spLocks noGrp="1"/>
          </p:cNvSpPr>
          <p:nvPr>
            <p:ph type="dt" sz="half" idx="10"/>
          </p:nvPr>
        </p:nvSpPr>
        <p:spPr/>
        <p:txBody>
          <a:bodyPr/>
          <a:lstStyle/>
          <a:p>
            <a:fld id="{CC7BEE07-F72E-45DA-90BE-607FC2F3DC77}" type="datetime1">
              <a:rPr lang="en-US" smtClean="0"/>
              <a:t>10/29/2024</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Triggers</a:t>
            </a:r>
          </a:p>
        </p:txBody>
      </p:sp>
      <p:sp>
        <p:nvSpPr>
          <p:cNvPr id="48131" name="Rectangle 3"/>
          <p:cNvSpPr>
            <a:spLocks noGrp="1" noChangeArrowheads="1"/>
          </p:cNvSpPr>
          <p:nvPr>
            <p:ph type="body" idx="1"/>
          </p:nvPr>
        </p:nvSpPr>
        <p:spPr/>
        <p:txBody>
          <a:bodyPr/>
          <a:lstStyle/>
          <a:p>
            <a:r>
              <a:rPr lang="en-US"/>
              <a:t>A </a:t>
            </a:r>
            <a:r>
              <a:rPr lang="en-US" b="1">
                <a:solidFill>
                  <a:schemeClr val="tx2"/>
                </a:solidFill>
              </a:rPr>
              <a:t>trigger</a:t>
            </a:r>
            <a:r>
              <a:rPr lang="en-US"/>
              <a:t> is a statement that is executed automatically by the system as a side effect of a modification to the database.</a:t>
            </a:r>
          </a:p>
          <a:p>
            <a:r>
              <a:rPr lang="en-US"/>
              <a:t>To design a trigger mechanism, we must:</a:t>
            </a:r>
          </a:p>
          <a:p>
            <a:pPr lvl="1"/>
            <a:r>
              <a:rPr lang="en-US"/>
              <a:t>Specify the conditions under which the trigger is to be executed.</a:t>
            </a:r>
          </a:p>
          <a:p>
            <a:pPr lvl="1"/>
            <a:r>
              <a:rPr lang="en-US"/>
              <a:t>Specify the actions to be taken when the trigger executes.</a:t>
            </a:r>
          </a:p>
          <a:p>
            <a:r>
              <a:rPr lang="en-US"/>
              <a:t>Triggers introduced to SQL standard in SQL:1999, but supported even earlier using non-standard syntax by most databases.			</a:t>
            </a:r>
          </a:p>
        </p:txBody>
      </p:sp>
      <p:sp>
        <p:nvSpPr>
          <p:cNvPr id="5" name="Slide Number Placeholder 4"/>
          <p:cNvSpPr>
            <a:spLocks noGrp="1"/>
          </p:cNvSpPr>
          <p:nvPr>
            <p:ph type="sldNum" sz="quarter" idx="11"/>
          </p:nvPr>
        </p:nvSpPr>
        <p:spPr/>
        <p:txBody>
          <a:bodyPr/>
          <a:lstStyle/>
          <a:p>
            <a:fld id="{0CE8B4ED-F473-44DC-8BCA-08AC378C3B98}" type="slidenum">
              <a:rPr lang="en-US" smtClean="0"/>
              <a:pPr/>
              <a:t>9</a:t>
            </a:fld>
            <a:endParaRPr lang="en-US"/>
          </a:p>
        </p:txBody>
      </p:sp>
      <p:sp>
        <p:nvSpPr>
          <p:cNvPr id="6" name="Date Placeholder 5"/>
          <p:cNvSpPr>
            <a:spLocks noGrp="1"/>
          </p:cNvSpPr>
          <p:nvPr>
            <p:ph type="dt" sz="half" idx="10"/>
          </p:nvPr>
        </p:nvSpPr>
        <p:spPr/>
        <p:txBody>
          <a:bodyPr/>
          <a:lstStyle/>
          <a:p>
            <a:fld id="{76C23F70-4AB1-439E-B581-A5C9B7F0B5AE}" type="datetime1">
              <a:rPr lang="en-US" smtClean="0"/>
              <a:t>10/29/2024</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Trigger Example </a:t>
            </a:r>
          </a:p>
        </p:txBody>
      </p:sp>
      <p:sp>
        <p:nvSpPr>
          <p:cNvPr id="46083" name="Rectangle 3"/>
          <p:cNvSpPr>
            <a:spLocks noGrp="1" noChangeArrowheads="1"/>
          </p:cNvSpPr>
          <p:nvPr>
            <p:ph type="body" idx="1"/>
          </p:nvPr>
        </p:nvSpPr>
        <p:spPr/>
        <p:txBody>
          <a:bodyPr/>
          <a:lstStyle/>
          <a:p>
            <a:r>
              <a:rPr lang="en-US"/>
              <a:t>Suppose that instead of allowing negative account balances, the bank deals with overdrafts by </a:t>
            </a:r>
          </a:p>
          <a:p>
            <a:pPr lvl="1"/>
            <a:r>
              <a:rPr lang="en-US"/>
              <a:t>setting the account balance to zero</a:t>
            </a:r>
          </a:p>
          <a:p>
            <a:pPr lvl="1"/>
            <a:r>
              <a:rPr lang="en-US"/>
              <a:t>creating a loan in the amount of the overdraft</a:t>
            </a:r>
          </a:p>
          <a:p>
            <a:pPr lvl="1"/>
            <a:r>
              <a:rPr lang="en-US"/>
              <a:t>giving this loan a loan number identical to the account number of the overdrawn account</a:t>
            </a:r>
          </a:p>
          <a:p>
            <a:r>
              <a:rPr lang="en-US"/>
              <a:t>The condition for executing the trigger is an update to the </a:t>
            </a:r>
            <a:r>
              <a:rPr lang="en-US" i="1"/>
              <a:t>account</a:t>
            </a:r>
            <a:r>
              <a:rPr lang="en-US"/>
              <a:t> relation that results in a negative </a:t>
            </a:r>
            <a:r>
              <a:rPr lang="en-US" i="1"/>
              <a:t>balance </a:t>
            </a:r>
            <a:r>
              <a:rPr lang="en-US"/>
              <a:t>value.</a:t>
            </a:r>
          </a:p>
        </p:txBody>
      </p:sp>
      <p:sp>
        <p:nvSpPr>
          <p:cNvPr id="5" name="Slide Number Placeholder 4"/>
          <p:cNvSpPr>
            <a:spLocks noGrp="1"/>
          </p:cNvSpPr>
          <p:nvPr>
            <p:ph type="sldNum" sz="quarter" idx="11"/>
          </p:nvPr>
        </p:nvSpPr>
        <p:spPr/>
        <p:txBody>
          <a:bodyPr/>
          <a:lstStyle/>
          <a:p>
            <a:fld id="{0CE8B4ED-F473-44DC-8BCA-08AC378C3B98}" type="slidenum">
              <a:rPr lang="en-US" smtClean="0"/>
              <a:pPr/>
              <a:t>10</a:t>
            </a:fld>
            <a:endParaRPr lang="en-US"/>
          </a:p>
        </p:txBody>
      </p:sp>
      <p:sp>
        <p:nvSpPr>
          <p:cNvPr id="6" name="Date Placeholder 5"/>
          <p:cNvSpPr>
            <a:spLocks noGrp="1"/>
          </p:cNvSpPr>
          <p:nvPr>
            <p:ph type="dt" sz="half" idx="10"/>
          </p:nvPr>
        </p:nvSpPr>
        <p:spPr/>
        <p:txBody>
          <a:bodyPr/>
          <a:lstStyle/>
          <a:p>
            <a:fld id="{4AC4316D-40F2-43E3-A63D-F5E14A166153}" type="datetime1">
              <a:rPr lang="en-US" smtClean="0"/>
              <a:t>10/29/2024</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dirty="0"/>
              <a:t>Trigger Example </a:t>
            </a:r>
          </a:p>
        </p:txBody>
      </p:sp>
      <p:sp>
        <p:nvSpPr>
          <p:cNvPr id="47107" name="Rectangle 3"/>
          <p:cNvSpPr>
            <a:spLocks noGrp="1" noChangeArrowheads="1"/>
          </p:cNvSpPr>
          <p:nvPr>
            <p:ph type="body" idx="1"/>
          </p:nvPr>
        </p:nvSpPr>
        <p:spPr>
          <a:xfrm>
            <a:off x="990600" y="1066800"/>
            <a:ext cx="7924800" cy="5029200"/>
          </a:xfrm>
        </p:spPr>
        <p:txBody>
          <a:bodyPr/>
          <a:lstStyle/>
          <a:p>
            <a:pPr>
              <a:buFont typeface="Monotype Sorts" pitchFamily="2" charset="2"/>
              <a:buNone/>
              <a:tabLst>
                <a:tab pos="908050" algn="l"/>
                <a:tab pos="1146175" algn="l"/>
              </a:tabLst>
            </a:pPr>
            <a:r>
              <a:rPr lang="en-US" b="1" dirty="0"/>
              <a:t>	create trigger </a:t>
            </a:r>
            <a:r>
              <a:rPr lang="en-US" i="1" dirty="0"/>
              <a:t>overdraft-trigger </a:t>
            </a:r>
            <a:r>
              <a:rPr lang="en-US" b="1" dirty="0"/>
              <a:t>after update on </a:t>
            </a:r>
            <a:r>
              <a:rPr lang="en-US" i="1" dirty="0"/>
              <a:t>account </a:t>
            </a:r>
            <a:br>
              <a:rPr lang="en-US" i="1" dirty="0"/>
            </a:br>
            <a:r>
              <a:rPr lang="en-US" b="1" dirty="0"/>
              <a:t>referencing new row as </a:t>
            </a:r>
            <a:r>
              <a:rPr lang="en-US" i="1" dirty="0" err="1"/>
              <a:t>nrow</a:t>
            </a:r>
            <a:r>
              <a:rPr lang="en-US" i="1" dirty="0"/>
              <a:t>                                                                                  </a:t>
            </a:r>
            <a:r>
              <a:rPr lang="en-US" b="1" dirty="0"/>
              <a:t>for each row</a:t>
            </a:r>
            <a:br>
              <a:rPr lang="en-US" b="1" dirty="0"/>
            </a:br>
            <a:r>
              <a:rPr lang="en-US" b="1" dirty="0"/>
              <a:t>when </a:t>
            </a:r>
            <a:r>
              <a:rPr lang="en-US" i="1" dirty="0" err="1"/>
              <a:t>nrow.balance</a:t>
            </a:r>
            <a:r>
              <a:rPr lang="en-US" i="1" dirty="0"/>
              <a:t> </a:t>
            </a:r>
            <a:r>
              <a:rPr lang="en-US" dirty="0"/>
              <a:t>&lt; 0</a:t>
            </a:r>
            <a:br>
              <a:rPr lang="en-US" dirty="0"/>
            </a:br>
            <a:r>
              <a:rPr lang="en-US" b="1" dirty="0"/>
              <a:t>begin atomic</a:t>
            </a:r>
            <a:br>
              <a:rPr lang="en-US" b="1" dirty="0"/>
            </a:br>
            <a:r>
              <a:rPr lang="en-US" b="1" dirty="0"/>
              <a:t>	insert into </a:t>
            </a:r>
            <a:r>
              <a:rPr lang="en-US" i="1" dirty="0"/>
              <a:t>borrower</a:t>
            </a:r>
            <a:r>
              <a:rPr lang="en-US" b="1" dirty="0"/>
              <a:t> </a:t>
            </a:r>
            <a:br>
              <a:rPr lang="en-US" b="1" dirty="0"/>
            </a:br>
            <a:r>
              <a:rPr lang="en-US" b="1" dirty="0"/>
              <a:t>		(select </a:t>
            </a:r>
            <a:r>
              <a:rPr lang="en-US" i="1" dirty="0"/>
              <a:t>customer-name, account-number</a:t>
            </a:r>
            <a:br>
              <a:rPr lang="en-US" i="1" dirty="0"/>
            </a:br>
            <a:r>
              <a:rPr lang="en-US" i="1" dirty="0"/>
              <a:t>   </a:t>
            </a:r>
            <a:r>
              <a:rPr lang="en-US" b="1" dirty="0"/>
              <a:t>		 from </a:t>
            </a:r>
            <a:r>
              <a:rPr lang="en-US" i="1" dirty="0"/>
              <a:t>depositor</a:t>
            </a:r>
            <a:br>
              <a:rPr lang="en-US" i="1" dirty="0"/>
            </a:br>
            <a:r>
              <a:rPr lang="en-US" i="1" dirty="0"/>
              <a:t> </a:t>
            </a:r>
            <a:r>
              <a:rPr lang="en-US" b="1" dirty="0"/>
              <a:t>		 where </a:t>
            </a:r>
            <a:r>
              <a:rPr lang="en-US" i="1" dirty="0" err="1"/>
              <a:t>nrow.account</a:t>
            </a:r>
            <a:r>
              <a:rPr lang="en-US" i="1" dirty="0"/>
              <a:t>-number = </a:t>
            </a:r>
            <a:br>
              <a:rPr lang="en-US" i="1" dirty="0"/>
            </a:br>
            <a:r>
              <a:rPr lang="en-US" i="1" dirty="0"/>
              <a:t>                          </a:t>
            </a:r>
            <a:r>
              <a:rPr lang="en-US" i="1" dirty="0" err="1"/>
              <a:t>depositor.account</a:t>
            </a:r>
            <a:r>
              <a:rPr lang="en-US" i="1" dirty="0"/>
              <a:t>-number</a:t>
            </a:r>
            <a:r>
              <a:rPr lang="en-US" dirty="0"/>
              <a:t>);</a:t>
            </a:r>
            <a:br>
              <a:rPr lang="en-US" dirty="0"/>
            </a:br>
            <a:r>
              <a:rPr lang="en-US" b="1" dirty="0"/>
              <a:t>        insert into </a:t>
            </a:r>
            <a:r>
              <a:rPr lang="en-US" i="1" dirty="0"/>
              <a:t>loan </a:t>
            </a:r>
            <a:r>
              <a:rPr lang="en-US" b="1" dirty="0"/>
              <a:t>values</a:t>
            </a:r>
            <a:r>
              <a:rPr lang="en-US" dirty="0"/>
              <a:t/>
            </a:r>
            <a:br>
              <a:rPr lang="en-US" dirty="0"/>
            </a:br>
            <a:r>
              <a:rPr lang="en-US" dirty="0"/>
              <a:t>		(</a:t>
            </a:r>
            <a:r>
              <a:rPr lang="en-US" dirty="0" err="1"/>
              <a:t>n</a:t>
            </a:r>
            <a:r>
              <a:rPr lang="en-US" i="1" dirty="0" err="1"/>
              <a:t>.row.account</a:t>
            </a:r>
            <a:r>
              <a:rPr lang="en-US" i="1" dirty="0"/>
              <a:t>-number, </a:t>
            </a:r>
            <a:r>
              <a:rPr lang="en-US" i="1" dirty="0" err="1"/>
              <a:t>nrow.branch</a:t>
            </a:r>
            <a:r>
              <a:rPr lang="en-US" i="1" dirty="0"/>
              <a:t>-name, </a:t>
            </a:r>
            <a:br>
              <a:rPr lang="en-US" i="1" dirty="0"/>
            </a:br>
            <a:r>
              <a:rPr lang="en-US" i="1" dirty="0"/>
              <a:t>                                                                – </a:t>
            </a:r>
            <a:r>
              <a:rPr lang="en-US" i="1" dirty="0" err="1"/>
              <a:t>nrow.balance</a:t>
            </a:r>
            <a:r>
              <a:rPr lang="en-US" dirty="0"/>
              <a:t>);</a:t>
            </a:r>
            <a:br>
              <a:rPr lang="en-US" dirty="0"/>
            </a:br>
            <a:r>
              <a:rPr lang="en-US" dirty="0"/>
              <a:t>       </a:t>
            </a:r>
            <a:r>
              <a:rPr lang="en-US" b="1" dirty="0"/>
              <a:t> update </a:t>
            </a:r>
            <a:r>
              <a:rPr lang="en-US" i="1" dirty="0"/>
              <a:t>account </a:t>
            </a:r>
            <a:r>
              <a:rPr lang="en-US" b="1" dirty="0"/>
              <a:t>set </a:t>
            </a:r>
            <a:r>
              <a:rPr lang="en-US" i="1" dirty="0"/>
              <a:t>balance </a:t>
            </a:r>
            <a:r>
              <a:rPr lang="en-US" dirty="0"/>
              <a:t>= 0</a:t>
            </a:r>
            <a:br>
              <a:rPr lang="en-US" dirty="0"/>
            </a:br>
            <a:r>
              <a:rPr lang="en-US" b="1" dirty="0"/>
              <a:t>	where </a:t>
            </a:r>
            <a:r>
              <a:rPr lang="en-US" i="1" dirty="0" err="1"/>
              <a:t>account.account</a:t>
            </a:r>
            <a:r>
              <a:rPr lang="en-US" i="1" dirty="0"/>
              <a:t>-number = </a:t>
            </a:r>
            <a:r>
              <a:rPr lang="en-US" i="1" dirty="0" err="1"/>
              <a:t>nrow.account</a:t>
            </a:r>
            <a:r>
              <a:rPr lang="en-US" i="1" dirty="0"/>
              <a:t>-number</a:t>
            </a:r>
            <a:br>
              <a:rPr lang="en-US" i="1" dirty="0"/>
            </a:br>
            <a:r>
              <a:rPr lang="en-US" b="1" dirty="0"/>
              <a:t>end		</a:t>
            </a:r>
          </a:p>
        </p:txBody>
      </p:sp>
      <p:sp>
        <p:nvSpPr>
          <p:cNvPr id="5" name="Slide Number Placeholder 4"/>
          <p:cNvSpPr>
            <a:spLocks noGrp="1"/>
          </p:cNvSpPr>
          <p:nvPr>
            <p:ph type="sldNum" sz="quarter" idx="11"/>
          </p:nvPr>
        </p:nvSpPr>
        <p:spPr/>
        <p:txBody>
          <a:bodyPr/>
          <a:lstStyle/>
          <a:p>
            <a:fld id="{0CE8B4ED-F473-44DC-8BCA-08AC378C3B98}" type="slidenum">
              <a:rPr lang="en-US" smtClean="0"/>
              <a:pPr/>
              <a:t>11</a:t>
            </a:fld>
            <a:endParaRPr lang="en-US"/>
          </a:p>
        </p:txBody>
      </p:sp>
      <p:sp>
        <p:nvSpPr>
          <p:cNvPr id="6" name="Date Placeholder 5"/>
          <p:cNvSpPr>
            <a:spLocks noGrp="1"/>
          </p:cNvSpPr>
          <p:nvPr>
            <p:ph type="dt" sz="half" idx="10"/>
          </p:nvPr>
        </p:nvSpPr>
        <p:spPr/>
        <p:txBody>
          <a:bodyPr/>
          <a:lstStyle/>
          <a:p>
            <a:fld id="{2C99645A-CC32-413A-95F1-3B3310DB9A69}" type="datetime1">
              <a:rPr lang="en-US" smtClean="0"/>
              <a:t>10/29/2024</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85800" y="485775"/>
            <a:ext cx="8077200" cy="609600"/>
          </a:xfrm>
        </p:spPr>
        <p:txBody>
          <a:bodyPr/>
          <a:lstStyle/>
          <a:p>
            <a:r>
              <a:rPr lang="en-US" dirty="0"/>
              <a:t>Triggering Events and Actions in SQL</a:t>
            </a:r>
          </a:p>
        </p:txBody>
      </p:sp>
      <p:sp>
        <p:nvSpPr>
          <p:cNvPr id="92163" name="Rectangle 3"/>
          <p:cNvSpPr>
            <a:spLocks noGrp="1" noChangeArrowheads="1"/>
          </p:cNvSpPr>
          <p:nvPr>
            <p:ph type="body" idx="4294967295"/>
          </p:nvPr>
        </p:nvSpPr>
        <p:spPr>
          <a:xfrm>
            <a:off x="304800" y="1752600"/>
            <a:ext cx="8610600" cy="3838575"/>
          </a:xfrm>
        </p:spPr>
        <p:txBody>
          <a:bodyPr/>
          <a:lstStyle/>
          <a:p>
            <a:r>
              <a:rPr lang="en-US" dirty="0"/>
              <a:t>Triggering event can be </a:t>
            </a:r>
            <a:r>
              <a:rPr lang="en-US" b="1" dirty="0"/>
              <a:t>insert</a:t>
            </a:r>
            <a:r>
              <a:rPr lang="en-US" dirty="0"/>
              <a:t>, </a:t>
            </a:r>
            <a:r>
              <a:rPr lang="en-US" b="1" dirty="0"/>
              <a:t>delete</a:t>
            </a:r>
            <a:r>
              <a:rPr lang="en-US" dirty="0"/>
              <a:t> or </a:t>
            </a:r>
            <a:r>
              <a:rPr lang="en-US" b="1" dirty="0"/>
              <a:t>update</a:t>
            </a:r>
          </a:p>
          <a:p>
            <a:r>
              <a:rPr lang="en-US" dirty="0"/>
              <a:t>Triggers on update can be restricted to specific attributes</a:t>
            </a:r>
          </a:p>
          <a:p>
            <a:pPr lvl="1"/>
            <a:r>
              <a:rPr lang="en-US" b="1" dirty="0"/>
              <a:t>E.g.  create trigger </a:t>
            </a:r>
            <a:r>
              <a:rPr lang="en-US" i="1" dirty="0"/>
              <a:t>overdraft-trigger </a:t>
            </a:r>
            <a:r>
              <a:rPr lang="en-US" b="1" dirty="0"/>
              <a:t>after update of </a:t>
            </a:r>
            <a:r>
              <a:rPr lang="en-US" i="1" dirty="0"/>
              <a:t>balance on account</a:t>
            </a:r>
          </a:p>
          <a:p>
            <a:r>
              <a:rPr lang="en-US" dirty="0"/>
              <a:t>Values of attributes before and after an update can be referenced</a:t>
            </a:r>
          </a:p>
          <a:p>
            <a:pPr lvl="1"/>
            <a:r>
              <a:rPr lang="en-US" b="1" dirty="0"/>
              <a:t>referencing old row as</a:t>
            </a:r>
            <a:r>
              <a:rPr lang="en-US" dirty="0"/>
              <a:t>   : for deletes and updates</a:t>
            </a:r>
          </a:p>
          <a:p>
            <a:pPr lvl="1"/>
            <a:r>
              <a:rPr lang="en-US" b="1" dirty="0"/>
              <a:t>referencing new row as  : </a:t>
            </a:r>
            <a:r>
              <a:rPr lang="en-US" dirty="0"/>
              <a:t>for inserts and updates</a:t>
            </a:r>
            <a:endParaRPr lang="en-US" b="1" dirty="0"/>
          </a:p>
          <a:p>
            <a:pPr>
              <a:lnSpc>
                <a:spcPct val="80000"/>
              </a:lnSpc>
              <a:buFont typeface="Monotype Sorts" pitchFamily="2" charset="2"/>
              <a:buNone/>
            </a:pPr>
            <a:endParaRPr lang="en-US" b="1" dirty="0"/>
          </a:p>
        </p:txBody>
      </p:sp>
      <p:sp>
        <p:nvSpPr>
          <p:cNvPr id="5" name="Slide Number Placeholder 4"/>
          <p:cNvSpPr>
            <a:spLocks noGrp="1"/>
          </p:cNvSpPr>
          <p:nvPr>
            <p:ph type="sldNum" sz="quarter" idx="11"/>
          </p:nvPr>
        </p:nvSpPr>
        <p:spPr/>
        <p:txBody>
          <a:bodyPr/>
          <a:lstStyle/>
          <a:p>
            <a:fld id="{53DB83EC-317B-4F66-9E1E-297964FDF4D5}" type="slidenum">
              <a:rPr lang="en-US" smtClean="0"/>
              <a:pPr/>
              <a:t>12</a:t>
            </a:fld>
            <a:endParaRPr lang="en-US"/>
          </a:p>
        </p:txBody>
      </p:sp>
      <p:sp>
        <p:nvSpPr>
          <p:cNvPr id="6" name="Date Placeholder 5"/>
          <p:cNvSpPr>
            <a:spLocks noGrp="1"/>
          </p:cNvSpPr>
          <p:nvPr>
            <p:ph type="dt" sz="half" idx="10"/>
          </p:nvPr>
        </p:nvSpPr>
        <p:spPr/>
        <p:txBody>
          <a:bodyPr/>
          <a:lstStyle/>
          <a:p>
            <a:fld id="{3F187D18-CBCD-4DCE-AE1A-144C148380A6}" type="datetime1">
              <a:rPr lang="en-US" smtClean="0"/>
              <a:t>10/29/2024</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t>Security</a:t>
            </a:r>
          </a:p>
        </p:txBody>
      </p:sp>
      <p:sp>
        <p:nvSpPr>
          <p:cNvPr id="67587" name="Rectangle 3"/>
          <p:cNvSpPr>
            <a:spLocks noGrp="1" noChangeArrowheads="1"/>
          </p:cNvSpPr>
          <p:nvPr>
            <p:ph type="body" idx="4294967295"/>
          </p:nvPr>
        </p:nvSpPr>
        <p:spPr>
          <a:xfrm>
            <a:off x="381000" y="1114425"/>
            <a:ext cx="8382000" cy="4876800"/>
          </a:xfrm>
        </p:spPr>
        <p:txBody>
          <a:bodyPr/>
          <a:lstStyle/>
          <a:p>
            <a:r>
              <a:rPr lang="en-US" b="1"/>
              <a:t>Security </a:t>
            </a:r>
            <a:r>
              <a:rPr lang="en-US"/>
              <a:t>- protection from malicious attempts to steal or modify data.</a:t>
            </a:r>
          </a:p>
          <a:p>
            <a:pPr lvl="1"/>
            <a:r>
              <a:rPr lang="en-US"/>
              <a:t>Database system level</a:t>
            </a:r>
          </a:p>
          <a:p>
            <a:pPr lvl="2"/>
            <a:r>
              <a:rPr lang="en-US">
                <a:solidFill>
                  <a:schemeClr val="tx2"/>
                </a:solidFill>
              </a:rPr>
              <a:t>Authentication</a:t>
            </a:r>
            <a:r>
              <a:rPr lang="en-US"/>
              <a:t> and </a:t>
            </a:r>
            <a:r>
              <a:rPr lang="en-US">
                <a:solidFill>
                  <a:schemeClr val="tx2"/>
                </a:solidFill>
              </a:rPr>
              <a:t>authorization</a:t>
            </a:r>
            <a:r>
              <a:rPr lang="en-US"/>
              <a:t> mechanisms to allow specific users access only to required data</a:t>
            </a:r>
          </a:p>
          <a:p>
            <a:pPr lvl="2"/>
            <a:r>
              <a:rPr lang="en-US"/>
              <a:t>We concentrate on authorization in the rest of this chapter</a:t>
            </a:r>
          </a:p>
          <a:p>
            <a:pPr lvl="1"/>
            <a:r>
              <a:rPr lang="en-US"/>
              <a:t>Operating system level</a:t>
            </a:r>
          </a:p>
          <a:p>
            <a:pPr lvl="2"/>
            <a:r>
              <a:rPr lang="en-US"/>
              <a:t>Operating system super-users can do anything they want to the database!   Good operating system level security is required.</a:t>
            </a:r>
          </a:p>
          <a:p>
            <a:pPr lvl="1"/>
            <a:r>
              <a:rPr lang="en-US"/>
              <a:t>Network level:  must use encryption to prevent</a:t>
            </a:r>
          </a:p>
          <a:p>
            <a:pPr lvl="2"/>
            <a:r>
              <a:rPr lang="en-US"/>
              <a:t>Eavesdropping (unauthorized reading of messages)</a:t>
            </a:r>
          </a:p>
          <a:p>
            <a:pPr lvl="2"/>
            <a:r>
              <a:rPr lang="en-US"/>
              <a:t>Masquerading  (pretending to be an authorized user or sending messages supposedly from authorized users)</a:t>
            </a:r>
          </a:p>
        </p:txBody>
      </p:sp>
      <p:sp>
        <p:nvSpPr>
          <p:cNvPr id="5" name="Slide Number Placeholder 4"/>
          <p:cNvSpPr>
            <a:spLocks noGrp="1"/>
          </p:cNvSpPr>
          <p:nvPr>
            <p:ph type="sldNum" sz="quarter" idx="11"/>
          </p:nvPr>
        </p:nvSpPr>
        <p:spPr/>
        <p:txBody>
          <a:bodyPr/>
          <a:lstStyle/>
          <a:p>
            <a:fld id="{53DB83EC-317B-4F66-9E1E-297964FDF4D5}" type="slidenum">
              <a:rPr lang="en-US" smtClean="0"/>
              <a:pPr/>
              <a:t>13</a:t>
            </a:fld>
            <a:endParaRPr lang="en-US"/>
          </a:p>
        </p:txBody>
      </p:sp>
      <p:sp>
        <p:nvSpPr>
          <p:cNvPr id="6" name="Date Placeholder 5"/>
          <p:cNvSpPr>
            <a:spLocks noGrp="1"/>
          </p:cNvSpPr>
          <p:nvPr>
            <p:ph type="dt" sz="half" idx="10"/>
          </p:nvPr>
        </p:nvSpPr>
        <p:spPr/>
        <p:txBody>
          <a:bodyPr/>
          <a:lstStyle/>
          <a:p>
            <a:fld id="{63BB2E5A-3724-44E2-B978-B5EE06F902B7}" type="datetime1">
              <a:rPr lang="en-US" smtClean="0"/>
              <a:t>10/29/2024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Rectangle 1026"/>
          <p:cNvSpPr>
            <a:spLocks noGrp="1" noChangeArrowheads="1"/>
          </p:cNvSpPr>
          <p:nvPr>
            <p:ph type="title"/>
          </p:nvPr>
        </p:nvSpPr>
        <p:spPr/>
        <p:txBody>
          <a:bodyPr/>
          <a:lstStyle/>
          <a:p>
            <a:r>
              <a:rPr lang="en-US"/>
              <a:t>Security (Cont.)</a:t>
            </a:r>
          </a:p>
        </p:txBody>
      </p:sp>
      <p:sp>
        <p:nvSpPr>
          <p:cNvPr id="103427" name="Rectangle 1027"/>
          <p:cNvSpPr>
            <a:spLocks noGrp="1" noChangeArrowheads="1"/>
          </p:cNvSpPr>
          <p:nvPr>
            <p:ph type="body" idx="1"/>
          </p:nvPr>
        </p:nvSpPr>
        <p:spPr/>
        <p:txBody>
          <a:bodyPr/>
          <a:lstStyle/>
          <a:p>
            <a:pPr lvl="1"/>
            <a:r>
              <a:rPr lang="en-US" dirty="0"/>
              <a:t>Physical level</a:t>
            </a:r>
          </a:p>
          <a:p>
            <a:pPr lvl="2"/>
            <a:r>
              <a:rPr lang="en-US" dirty="0"/>
              <a:t>Physical access to computers allows destruction of data by intruders;  traditional lock-and-key security is needed</a:t>
            </a:r>
          </a:p>
          <a:p>
            <a:pPr lvl="2"/>
            <a:r>
              <a:rPr lang="en-US" dirty="0"/>
              <a:t>Computers must also be protected from floods, fire, etc. </a:t>
            </a:r>
          </a:p>
          <a:p>
            <a:pPr lvl="1"/>
            <a:r>
              <a:rPr lang="en-US" dirty="0" smtClean="0"/>
              <a:t>Human </a:t>
            </a:r>
            <a:r>
              <a:rPr lang="en-US" dirty="0"/>
              <a:t>level</a:t>
            </a:r>
          </a:p>
          <a:p>
            <a:pPr lvl="2"/>
            <a:r>
              <a:rPr lang="en-US" dirty="0"/>
              <a:t>Users must be screened to ensure that an authorized users do not give access to intruders   </a:t>
            </a:r>
          </a:p>
          <a:p>
            <a:pPr lvl="2"/>
            <a:r>
              <a:rPr lang="en-US" dirty="0"/>
              <a:t>Users should be trained on password selection and secrecy</a:t>
            </a:r>
          </a:p>
          <a:p>
            <a:endParaRPr lang="en-US" dirty="0"/>
          </a:p>
        </p:txBody>
      </p:sp>
      <p:sp>
        <p:nvSpPr>
          <p:cNvPr id="5" name="Slide Number Placeholder 4"/>
          <p:cNvSpPr>
            <a:spLocks noGrp="1"/>
          </p:cNvSpPr>
          <p:nvPr>
            <p:ph type="sldNum" sz="quarter" idx="11"/>
          </p:nvPr>
        </p:nvSpPr>
        <p:spPr/>
        <p:txBody>
          <a:bodyPr/>
          <a:lstStyle/>
          <a:p>
            <a:fld id="{0CE8B4ED-F473-44DC-8BCA-08AC378C3B98}" type="slidenum">
              <a:rPr lang="en-US" smtClean="0"/>
              <a:pPr/>
              <a:t>14</a:t>
            </a:fld>
            <a:endParaRPr lang="en-US"/>
          </a:p>
        </p:txBody>
      </p:sp>
      <p:sp>
        <p:nvSpPr>
          <p:cNvPr id="6" name="Date Placeholder 5"/>
          <p:cNvSpPr>
            <a:spLocks noGrp="1"/>
          </p:cNvSpPr>
          <p:nvPr>
            <p:ph type="dt" sz="half" idx="10"/>
          </p:nvPr>
        </p:nvSpPr>
        <p:spPr/>
        <p:txBody>
          <a:bodyPr/>
          <a:lstStyle/>
          <a:p>
            <a:fld id="{0294533D-1CC9-41CC-A4EA-5E879CB15339}" type="datetime1">
              <a:rPr lang="en-US" smtClean="0"/>
              <a:t>10/29/2024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t>Authorization</a:t>
            </a:r>
          </a:p>
        </p:txBody>
      </p:sp>
      <p:sp>
        <p:nvSpPr>
          <p:cNvPr id="73731" name="Rectangle 3"/>
          <p:cNvSpPr>
            <a:spLocks noGrp="1" noChangeArrowheads="1"/>
          </p:cNvSpPr>
          <p:nvPr>
            <p:ph type="body" idx="4294967295"/>
          </p:nvPr>
        </p:nvSpPr>
        <p:spPr>
          <a:xfrm>
            <a:off x="571500" y="1114425"/>
            <a:ext cx="8115300" cy="4876800"/>
          </a:xfrm>
        </p:spPr>
        <p:txBody>
          <a:bodyPr/>
          <a:lstStyle/>
          <a:p>
            <a:pPr>
              <a:buFont typeface="Monotype Sorts" pitchFamily="2" charset="2"/>
              <a:buNone/>
            </a:pPr>
            <a:r>
              <a:rPr lang="en-US"/>
              <a:t>Forms of authorization on parts of  the database:</a:t>
            </a:r>
          </a:p>
          <a:p>
            <a:pPr>
              <a:lnSpc>
                <a:spcPct val="160000"/>
              </a:lnSpc>
            </a:pPr>
            <a:r>
              <a:rPr lang="en-US" b="1"/>
              <a:t>Read authorization </a:t>
            </a:r>
            <a:r>
              <a:rPr lang="en-US"/>
              <a:t>- allows reading, but not modification of data.</a:t>
            </a:r>
          </a:p>
          <a:p>
            <a:r>
              <a:rPr lang="en-US" b="1"/>
              <a:t>Insert authorization </a:t>
            </a:r>
            <a:r>
              <a:rPr lang="en-US"/>
              <a:t>- allows insertion of new data, but not modification of existing data.</a:t>
            </a:r>
          </a:p>
          <a:p>
            <a:r>
              <a:rPr lang="en-US" b="1"/>
              <a:t>Update authorization </a:t>
            </a:r>
            <a:r>
              <a:rPr lang="en-US"/>
              <a:t>- allows modification, but not deletion of data.</a:t>
            </a:r>
          </a:p>
          <a:p>
            <a:r>
              <a:rPr lang="en-US" b="1"/>
              <a:t>Delete authorization </a:t>
            </a:r>
            <a:r>
              <a:rPr lang="en-US"/>
              <a:t>- allows deletion of data</a:t>
            </a:r>
          </a:p>
        </p:txBody>
      </p:sp>
      <p:sp>
        <p:nvSpPr>
          <p:cNvPr id="5" name="Slide Number Placeholder 4"/>
          <p:cNvSpPr>
            <a:spLocks noGrp="1"/>
          </p:cNvSpPr>
          <p:nvPr>
            <p:ph type="sldNum" sz="quarter" idx="11"/>
          </p:nvPr>
        </p:nvSpPr>
        <p:spPr/>
        <p:txBody>
          <a:bodyPr/>
          <a:lstStyle/>
          <a:p>
            <a:fld id="{53DB83EC-317B-4F66-9E1E-297964FDF4D5}" type="slidenum">
              <a:rPr lang="en-US" smtClean="0"/>
              <a:pPr/>
              <a:t>15</a:t>
            </a:fld>
            <a:endParaRPr lang="en-US"/>
          </a:p>
        </p:txBody>
      </p:sp>
      <p:sp>
        <p:nvSpPr>
          <p:cNvPr id="6" name="Date Placeholder 5"/>
          <p:cNvSpPr>
            <a:spLocks noGrp="1"/>
          </p:cNvSpPr>
          <p:nvPr>
            <p:ph type="dt" sz="half" idx="10"/>
          </p:nvPr>
        </p:nvSpPr>
        <p:spPr/>
        <p:txBody>
          <a:bodyPr/>
          <a:lstStyle/>
          <a:p>
            <a:fld id="{411DEF12-E0EC-421C-B582-40DB596EB1F0}" type="datetime1">
              <a:rPr lang="en-US" smtClean="0"/>
              <a:t>10/29/2024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p:txBody>
          <a:bodyPr/>
          <a:lstStyle/>
          <a:p>
            <a:r>
              <a:rPr lang="en-US"/>
              <a:t>Authorization (Cont.)</a:t>
            </a:r>
          </a:p>
        </p:txBody>
      </p:sp>
      <p:sp>
        <p:nvSpPr>
          <p:cNvPr id="74755" name="Rectangle 1027"/>
          <p:cNvSpPr>
            <a:spLocks noGrp="1" noChangeArrowheads="1"/>
          </p:cNvSpPr>
          <p:nvPr>
            <p:ph type="body" idx="4294967295"/>
          </p:nvPr>
        </p:nvSpPr>
        <p:spPr>
          <a:xfrm>
            <a:off x="571500" y="1343025"/>
            <a:ext cx="8191500" cy="3152775"/>
          </a:xfrm>
        </p:spPr>
        <p:txBody>
          <a:bodyPr/>
          <a:lstStyle/>
          <a:p>
            <a:pPr>
              <a:buFont typeface="Monotype Sorts" pitchFamily="2" charset="2"/>
              <a:buNone/>
            </a:pPr>
            <a:r>
              <a:rPr lang="en-US"/>
              <a:t>Forms of authorization to modify  the database schema:</a:t>
            </a:r>
          </a:p>
          <a:p>
            <a:r>
              <a:rPr lang="en-US" b="1"/>
              <a:t>Index authorization </a:t>
            </a:r>
            <a:r>
              <a:rPr lang="en-US"/>
              <a:t>- allows creation and deletion of indices.</a:t>
            </a:r>
          </a:p>
          <a:p>
            <a:r>
              <a:rPr lang="en-US" b="1"/>
              <a:t>Resources</a:t>
            </a:r>
            <a:r>
              <a:rPr lang="en-US"/>
              <a:t> </a:t>
            </a:r>
            <a:r>
              <a:rPr lang="en-US" b="1"/>
              <a:t>authorization</a:t>
            </a:r>
            <a:r>
              <a:rPr lang="en-US"/>
              <a:t> - allows creation of new relations.</a:t>
            </a:r>
          </a:p>
          <a:p>
            <a:r>
              <a:rPr lang="en-US" b="1"/>
              <a:t>Alteration</a:t>
            </a:r>
            <a:r>
              <a:rPr lang="en-US"/>
              <a:t> </a:t>
            </a:r>
            <a:r>
              <a:rPr lang="en-US" b="1"/>
              <a:t>authorization</a:t>
            </a:r>
            <a:r>
              <a:rPr lang="en-US"/>
              <a:t> - allows addition or deletion of attributes in a relation.</a:t>
            </a:r>
          </a:p>
          <a:p>
            <a:r>
              <a:rPr lang="en-US" b="1"/>
              <a:t>Drop</a:t>
            </a:r>
            <a:r>
              <a:rPr lang="en-US"/>
              <a:t> </a:t>
            </a:r>
            <a:r>
              <a:rPr lang="en-US" b="1"/>
              <a:t>authorization</a:t>
            </a:r>
            <a:r>
              <a:rPr lang="en-US"/>
              <a:t> - allows deletion of relations.</a:t>
            </a:r>
          </a:p>
        </p:txBody>
      </p:sp>
      <p:sp>
        <p:nvSpPr>
          <p:cNvPr id="5" name="Slide Number Placeholder 4"/>
          <p:cNvSpPr>
            <a:spLocks noGrp="1"/>
          </p:cNvSpPr>
          <p:nvPr>
            <p:ph type="sldNum" sz="quarter" idx="11"/>
          </p:nvPr>
        </p:nvSpPr>
        <p:spPr/>
        <p:txBody>
          <a:bodyPr/>
          <a:lstStyle/>
          <a:p>
            <a:fld id="{53DB83EC-317B-4F66-9E1E-297964FDF4D5}" type="slidenum">
              <a:rPr lang="en-US" smtClean="0"/>
              <a:pPr/>
              <a:t>16</a:t>
            </a:fld>
            <a:endParaRPr lang="en-US"/>
          </a:p>
        </p:txBody>
      </p:sp>
      <p:sp>
        <p:nvSpPr>
          <p:cNvPr id="6" name="Date Placeholder 5"/>
          <p:cNvSpPr>
            <a:spLocks noGrp="1"/>
          </p:cNvSpPr>
          <p:nvPr>
            <p:ph type="dt" sz="half" idx="10"/>
          </p:nvPr>
        </p:nvSpPr>
        <p:spPr/>
        <p:txBody>
          <a:bodyPr/>
          <a:lstStyle/>
          <a:p>
            <a:fld id="{D5412416-B57B-4DE8-8638-4EFCA78910A9}" type="datetime1">
              <a:rPr lang="en-US" smtClean="0"/>
              <a:t>10/29/2024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t>View Example</a:t>
            </a:r>
          </a:p>
        </p:txBody>
      </p:sp>
      <p:sp>
        <p:nvSpPr>
          <p:cNvPr id="76803" name="Rectangle 3"/>
          <p:cNvSpPr>
            <a:spLocks noGrp="1" noChangeArrowheads="1"/>
          </p:cNvSpPr>
          <p:nvPr>
            <p:ph type="body" idx="4294967295"/>
          </p:nvPr>
        </p:nvSpPr>
        <p:spPr/>
        <p:txBody>
          <a:bodyPr/>
          <a:lstStyle/>
          <a:p>
            <a:r>
              <a:rPr lang="en-US" dirty="0"/>
              <a:t>Suppose a  bank clerk needs to know the names of the customers of each branch, but is not authorized to see specific loan information.</a:t>
            </a:r>
          </a:p>
          <a:p>
            <a:pPr lvl="1"/>
            <a:r>
              <a:rPr lang="en-US" dirty="0"/>
              <a:t>Approach: Deny direct access to the</a:t>
            </a:r>
            <a:r>
              <a:rPr lang="en-US" i="1" dirty="0"/>
              <a:t> loan </a:t>
            </a:r>
            <a:r>
              <a:rPr lang="en-US" dirty="0"/>
              <a:t>relation, but grant access to the view </a:t>
            </a:r>
            <a:r>
              <a:rPr lang="en-US" i="1" dirty="0" err="1"/>
              <a:t>cust</a:t>
            </a:r>
            <a:r>
              <a:rPr lang="en-US" i="1" dirty="0"/>
              <a:t>-loan</a:t>
            </a:r>
            <a:r>
              <a:rPr lang="en-US" dirty="0"/>
              <a:t>, which consists only of  the names of customers and the branches at which they have a loan.</a:t>
            </a:r>
          </a:p>
          <a:p>
            <a:pPr lvl="1"/>
            <a:r>
              <a:rPr lang="en-US" dirty="0"/>
              <a:t>The </a:t>
            </a:r>
            <a:r>
              <a:rPr lang="en-US" i="1" dirty="0" err="1"/>
              <a:t>cust</a:t>
            </a:r>
            <a:r>
              <a:rPr lang="en-US" i="1" dirty="0"/>
              <a:t>-loan </a:t>
            </a:r>
            <a:r>
              <a:rPr lang="en-US" dirty="0"/>
              <a:t>view is defined in SQL as follows:</a:t>
            </a:r>
          </a:p>
          <a:p>
            <a:pPr>
              <a:buFont typeface="Monotype Sorts" pitchFamily="2" charset="2"/>
              <a:buNone/>
            </a:pPr>
            <a:r>
              <a:rPr lang="en-US" b="1" dirty="0"/>
              <a:t>		create view </a:t>
            </a:r>
            <a:r>
              <a:rPr lang="en-US" i="1" dirty="0" err="1"/>
              <a:t>cust</a:t>
            </a:r>
            <a:r>
              <a:rPr lang="en-US" i="1" dirty="0"/>
              <a:t>-loan </a:t>
            </a:r>
            <a:r>
              <a:rPr lang="en-US" b="1" dirty="0"/>
              <a:t>as</a:t>
            </a:r>
            <a:r>
              <a:rPr lang="en-US" dirty="0"/>
              <a:t/>
            </a:r>
            <a:br>
              <a:rPr lang="en-US" dirty="0"/>
            </a:br>
            <a:r>
              <a:rPr lang="en-US" dirty="0"/>
              <a:t>	    </a:t>
            </a:r>
            <a:r>
              <a:rPr lang="en-US" b="1" dirty="0"/>
              <a:t>select </a:t>
            </a:r>
            <a:r>
              <a:rPr lang="en-US" i="1" dirty="0" err="1"/>
              <a:t>branchname</a:t>
            </a:r>
            <a:r>
              <a:rPr lang="en-US" dirty="0"/>
              <a:t>, </a:t>
            </a:r>
            <a:r>
              <a:rPr lang="en-US" i="1" dirty="0"/>
              <a:t>customer-name</a:t>
            </a:r>
            <a:r>
              <a:rPr lang="en-US" dirty="0"/>
              <a:t/>
            </a:r>
            <a:br>
              <a:rPr lang="en-US" dirty="0"/>
            </a:br>
            <a:r>
              <a:rPr lang="en-US" b="1" dirty="0"/>
              <a:t>	    from   </a:t>
            </a:r>
            <a:r>
              <a:rPr lang="en-US" i="1" dirty="0"/>
              <a:t>borrower, loan</a:t>
            </a:r>
            <a:r>
              <a:rPr lang="en-US" dirty="0"/>
              <a:t/>
            </a:r>
            <a:br>
              <a:rPr lang="en-US" dirty="0"/>
            </a:br>
            <a:endParaRPr lang="en-US" dirty="0" smtClean="0"/>
          </a:p>
          <a:p>
            <a:r>
              <a:rPr lang="en-US" dirty="0"/>
              <a:t>The clerk is authorized to see the result of the query:</a:t>
            </a:r>
          </a:p>
          <a:p>
            <a:pPr lvl="4">
              <a:buFontTx/>
              <a:buNone/>
            </a:pPr>
            <a:r>
              <a:rPr lang="en-US" b="1" dirty="0"/>
              <a:t>   select</a:t>
            </a:r>
            <a:r>
              <a:rPr lang="en-US" dirty="0"/>
              <a:t> </a:t>
            </a:r>
            <a:r>
              <a:rPr lang="en-US" b="1" dirty="0"/>
              <a:t>*</a:t>
            </a:r>
            <a:br>
              <a:rPr lang="en-US" b="1" dirty="0"/>
            </a:br>
            <a:r>
              <a:rPr lang="en-US" b="1" dirty="0"/>
              <a:t>from </a:t>
            </a:r>
            <a:r>
              <a:rPr lang="en-US" i="1" dirty="0" err="1"/>
              <a:t>cust</a:t>
            </a:r>
            <a:r>
              <a:rPr lang="en-US" i="1" dirty="0"/>
              <a:t>-loan</a:t>
            </a:r>
            <a:endParaRPr lang="en-US" dirty="0"/>
          </a:p>
          <a:p>
            <a:pPr>
              <a:buFont typeface="Monotype Sorts" pitchFamily="2" charset="2"/>
              <a:buNone/>
            </a:pPr>
            <a:r>
              <a:rPr lang="en-US" b="1" dirty="0"/>
              <a:t>	    where </a:t>
            </a:r>
            <a:r>
              <a:rPr lang="en-US" i="1" dirty="0" err="1"/>
              <a:t>borrower.loan</a:t>
            </a:r>
            <a:r>
              <a:rPr lang="en-US" i="1" dirty="0"/>
              <a:t>-number </a:t>
            </a:r>
            <a:r>
              <a:rPr lang="en-US" dirty="0"/>
              <a:t>=</a:t>
            </a:r>
            <a:r>
              <a:rPr lang="en-US" i="1" dirty="0"/>
              <a:t> </a:t>
            </a:r>
            <a:r>
              <a:rPr lang="en-US" i="1" dirty="0" err="1"/>
              <a:t>loan.loan</a:t>
            </a:r>
            <a:r>
              <a:rPr lang="en-US" i="1" dirty="0"/>
              <a:t>-number</a:t>
            </a:r>
            <a:endParaRPr lang="en-US" dirty="0"/>
          </a:p>
        </p:txBody>
      </p:sp>
      <p:sp>
        <p:nvSpPr>
          <p:cNvPr id="5" name="Slide Number Placeholder 4"/>
          <p:cNvSpPr>
            <a:spLocks noGrp="1"/>
          </p:cNvSpPr>
          <p:nvPr>
            <p:ph type="sldNum" sz="quarter" idx="11"/>
          </p:nvPr>
        </p:nvSpPr>
        <p:spPr/>
        <p:txBody>
          <a:bodyPr/>
          <a:lstStyle/>
          <a:p>
            <a:fld id="{53DB83EC-317B-4F66-9E1E-297964FDF4D5}" type="slidenum">
              <a:rPr lang="en-US" smtClean="0"/>
              <a:pPr/>
              <a:t>17</a:t>
            </a:fld>
            <a:endParaRPr lang="en-US"/>
          </a:p>
        </p:txBody>
      </p:sp>
      <p:sp>
        <p:nvSpPr>
          <p:cNvPr id="6" name="Date Placeholder 5"/>
          <p:cNvSpPr>
            <a:spLocks noGrp="1"/>
          </p:cNvSpPr>
          <p:nvPr>
            <p:ph type="dt" sz="half" idx="10"/>
          </p:nvPr>
        </p:nvSpPr>
        <p:spPr/>
        <p:txBody>
          <a:bodyPr/>
          <a:lstStyle/>
          <a:p>
            <a:fld id="{F38ECBB8-B1C9-4373-8B3D-78901CE9A3EF}" type="datetime1">
              <a:rPr lang="en-US" smtClean="0"/>
              <a:t>10/29/2024</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t>Granting of Privileges</a:t>
            </a:r>
          </a:p>
        </p:txBody>
      </p:sp>
      <p:sp>
        <p:nvSpPr>
          <p:cNvPr id="79875" name="Rectangle 3"/>
          <p:cNvSpPr>
            <a:spLocks noGrp="1" noChangeArrowheads="1"/>
          </p:cNvSpPr>
          <p:nvPr>
            <p:ph type="body" idx="4294967295"/>
          </p:nvPr>
        </p:nvSpPr>
        <p:spPr/>
        <p:txBody>
          <a:bodyPr/>
          <a:lstStyle/>
          <a:p>
            <a:r>
              <a:rPr lang="en-US"/>
              <a:t>The passage of authorization from one user to another may be represented by an authorization graph.</a:t>
            </a:r>
          </a:p>
          <a:p>
            <a:r>
              <a:rPr lang="en-US"/>
              <a:t>The nodes of this graph are the users.</a:t>
            </a:r>
          </a:p>
          <a:p>
            <a:r>
              <a:rPr lang="en-US"/>
              <a:t>The root of the graph is the database administrator.</a:t>
            </a:r>
          </a:p>
          <a:p>
            <a:r>
              <a:rPr lang="en-US"/>
              <a:t>Consider graph for update authorization on loan.</a:t>
            </a:r>
          </a:p>
          <a:p>
            <a:r>
              <a:rPr lang="en-US"/>
              <a:t>An edge U</a:t>
            </a:r>
            <a:r>
              <a:rPr lang="en-US" baseline="-25000"/>
              <a:t>i</a:t>
            </a:r>
            <a:r>
              <a:rPr lang="en-US"/>
              <a:t> </a:t>
            </a:r>
            <a:r>
              <a:rPr lang="en-US">
                <a:sym typeface="Symbol" pitchFamily="18" charset="2"/>
              </a:rPr>
              <a:t>U</a:t>
            </a:r>
            <a:r>
              <a:rPr lang="en-US" baseline="-25000">
                <a:sym typeface="Symbol" pitchFamily="18" charset="2"/>
              </a:rPr>
              <a:t>j</a:t>
            </a:r>
            <a:r>
              <a:rPr lang="en-US">
                <a:sym typeface="Symbol" pitchFamily="18" charset="2"/>
              </a:rPr>
              <a:t> indicates that user U</a:t>
            </a:r>
            <a:r>
              <a:rPr lang="en-US" baseline="-25000">
                <a:sym typeface="Symbol" pitchFamily="18" charset="2"/>
              </a:rPr>
              <a:t>i</a:t>
            </a:r>
            <a:r>
              <a:rPr lang="en-US">
                <a:sym typeface="Symbol" pitchFamily="18" charset="2"/>
              </a:rPr>
              <a:t> has granted update authorization on loan to U</a:t>
            </a:r>
            <a:r>
              <a:rPr lang="en-US" baseline="-25000">
                <a:sym typeface="Symbol" pitchFamily="18" charset="2"/>
              </a:rPr>
              <a:t>j.</a:t>
            </a:r>
            <a:endParaRPr lang="en-US"/>
          </a:p>
        </p:txBody>
      </p:sp>
      <p:sp>
        <p:nvSpPr>
          <p:cNvPr id="79876" name="Line 4"/>
          <p:cNvSpPr>
            <a:spLocks noChangeShapeType="1"/>
          </p:cNvSpPr>
          <p:nvPr/>
        </p:nvSpPr>
        <p:spPr bwMode="auto">
          <a:xfrm flipV="1">
            <a:off x="1752600" y="4038600"/>
            <a:ext cx="1143000" cy="914400"/>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77" name="Line 5"/>
          <p:cNvSpPr>
            <a:spLocks noChangeShapeType="1"/>
          </p:cNvSpPr>
          <p:nvPr/>
        </p:nvSpPr>
        <p:spPr bwMode="auto">
          <a:xfrm flipV="1">
            <a:off x="3352800" y="3981450"/>
            <a:ext cx="1219200" cy="0"/>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78" name="Line 6"/>
          <p:cNvSpPr>
            <a:spLocks noChangeShapeType="1"/>
          </p:cNvSpPr>
          <p:nvPr/>
        </p:nvSpPr>
        <p:spPr bwMode="auto">
          <a:xfrm flipV="1">
            <a:off x="1828800" y="5181600"/>
            <a:ext cx="1219200" cy="0"/>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79" name="Line 7"/>
          <p:cNvSpPr>
            <a:spLocks noChangeShapeType="1"/>
          </p:cNvSpPr>
          <p:nvPr/>
        </p:nvSpPr>
        <p:spPr bwMode="auto">
          <a:xfrm>
            <a:off x="1752600" y="5334000"/>
            <a:ext cx="1295400" cy="990600"/>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80" name="Line 8"/>
          <p:cNvSpPr>
            <a:spLocks noChangeShapeType="1"/>
          </p:cNvSpPr>
          <p:nvPr/>
        </p:nvSpPr>
        <p:spPr bwMode="auto">
          <a:xfrm flipV="1">
            <a:off x="3657600" y="5219700"/>
            <a:ext cx="1524000" cy="0"/>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81" name="Line 9"/>
          <p:cNvSpPr>
            <a:spLocks noChangeShapeType="1"/>
          </p:cNvSpPr>
          <p:nvPr/>
        </p:nvSpPr>
        <p:spPr bwMode="auto">
          <a:xfrm>
            <a:off x="3371850" y="4086225"/>
            <a:ext cx="1733550" cy="866775"/>
          </a:xfrm>
          <a:prstGeom prst="line">
            <a:avLst/>
          </a:prstGeom>
          <a:noFill/>
          <a:ln w="19050">
            <a:solidFill>
              <a:schemeClr val="tx1"/>
            </a:solidFill>
            <a:round/>
            <a:headEnd/>
            <a:tailEnd type="triangle" w="med" len="med"/>
          </a:ln>
          <a:effectLst/>
        </p:spPr>
        <p:txBody>
          <a:bodyPr wrap="none" anchor="ctr"/>
          <a:lstStyle/>
          <a:p>
            <a:endParaRPr lang="en-US"/>
          </a:p>
        </p:txBody>
      </p:sp>
      <p:sp>
        <p:nvSpPr>
          <p:cNvPr id="79882" name="Text Box 10"/>
          <p:cNvSpPr txBox="1">
            <a:spLocks noChangeArrowheads="1"/>
          </p:cNvSpPr>
          <p:nvPr/>
        </p:nvSpPr>
        <p:spPr bwMode="auto">
          <a:xfrm>
            <a:off x="2870200" y="3746500"/>
            <a:ext cx="506413"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U</a:t>
            </a:r>
            <a:r>
              <a:rPr lang="en-US" sz="2400" baseline="-25000">
                <a:latin typeface="Times New Roman" pitchFamily="18" charset="0"/>
              </a:rPr>
              <a:t>1</a:t>
            </a:r>
            <a:endParaRPr lang="en-US" sz="2400">
              <a:latin typeface="Times New Roman" pitchFamily="18" charset="0"/>
            </a:endParaRPr>
          </a:p>
        </p:txBody>
      </p:sp>
      <p:sp>
        <p:nvSpPr>
          <p:cNvPr id="79883" name="Text Box 11"/>
          <p:cNvSpPr txBox="1">
            <a:spLocks noChangeArrowheads="1"/>
          </p:cNvSpPr>
          <p:nvPr/>
        </p:nvSpPr>
        <p:spPr bwMode="auto">
          <a:xfrm>
            <a:off x="4533900" y="3762375"/>
            <a:ext cx="506413"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U</a:t>
            </a:r>
            <a:r>
              <a:rPr lang="en-US" sz="2400" baseline="-25000">
                <a:latin typeface="Times New Roman" pitchFamily="18" charset="0"/>
              </a:rPr>
              <a:t>4</a:t>
            </a:r>
            <a:endParaRPr lang="en-US" sz="2400">
              <a:latin typeface="Times New Roman" pitchFamily="18" charset="0"/>
            </a:endParaRPr>
          </a:p>
        </p:txBody>
      </p:sp>
      <p:sp>
        <p:nvSpPr>
          <p:cNvPr id="79884" name="Text Box 12"/>
          <p:cNvSpPr txBox="1">
            <a:spLocks noChangeArrowheads="1"/>
          </p:cNvSpPr>
          <p:nvPr/>
        </p:nvSpPr>
        <p:spPr bwMode="auto">
          <a:xfrm>
            <a:off x="3051175" y="4962525"/>
            <a:ext cx="506413"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U</a:t>
            </a:r>
            <a:r>
              <a:rPr lang="en-US" sz="2400" baseline="-25000">
                <a:latin typeface="Times New Roman" pitchFamily="18" charset="0"/>
              </a:rPr>
              <a:t>2</a:t>
            </a:r>
            <a:endParaRPr lang="en-US" sz="2400">
              <a:latin typeface="Times New Roman" pitchFamily="18" charset="0"/>
            </a:endParaRPr>
          </a:p>
        </p:txBody>
      </p:sp>
      <p:sp>
        <p:nvSpPr>
          <p:cNvPr id="79885" name="Text Box 13"/>
          <p:cNvSpPr txBox="1">
            <a:spLocks noChangeArrowheads="1"/>
          </p:cNvSpPr>
          <p:nvPr/>
        </p:nvSpPr>
        <p:spPr bwMode="auto">
          <a:xfrm>
            <a:off x="5189538" y="5000625"/>
            <a:ext cx="506412"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U</a:t>
            </a:r>
            <a:r>
              <a:rPr lang="en-US" sz="2400" baseline="-25000">
                <a:latin typeface="Times New Roman" pitchFamily="18" charset="0"/>
              </a:rPr>
              <a:t>5</a:t>
            </a:r>
            <a:endParaRPr lang="en-US" sz="2400">
              <a:latin typeface="Times New Roman" pitchFamily="18" charset="0"/>
            </a:endParaRPr>
          </a:p>
        </p:txBody>
      </p:sp>
      <p:sp>
        <p:nvSpPr>
          <p:cNvPr id="79886" name="Text Box 14"/>
          <p:cNvSpPr txBox="1">
            <a:spLocks noChangeArrowheads="1"/>
          </p:cNvSpPr>
          <p:nvPr/>
        </p:nvSpPr>
        <p:spPr bwMode="auto">
          <a:xfrm>
            <a:off x="2971800" y="6143625"/>
            <a:ext cx="506413"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U</a:t>
            </a:r>
            <a:r>
              <a:rPr lang="en-US" sz="2400" baseline="-25000">
                <a:latin typeface="Times New Roman" pitchFamily="18" charset="0"/>
              </a:rPr>
              <a:t>3</a:t>
            </a:r>
            <a:endParaRPr lang="en-US" sz="2400">
              <a:latin typeface="Times New Roman" pitchFamily="18" charset="0"/>
            </a:endParaRPr>
          </a:p>
        </p:txBody>
      </p:sp>
      <p:sp>
        <p:nvSpPr>
          <p:cNvPr id="79887" name="Text Box 15"/>
          <p:cNvSpPr txBox="1">
            <a:spLocks noChangeArrowheads="1"/>
          </p:cNvSpPr>
          <p:nvPr/>
        </p:nvSpPr>
        <p:spPr bwMode="auto">
          <a:xfrm>
            <a:off x="1000125" y="4953000"/>
            <a:ext cx="776288" cy="457200"/>
          </a:xfrm>
          <a:prstGeom prst="rect">
            <a:avLst/>
          </a:prstGeom>
          <a:noFill/>
          <a:ln w="9525">
            <a:noFill/>
            <a:miter lim="800000"/>
            <a:headEnd/>
            <a:tailEnd/>
          </a:ln>
          <a:effectLst/>
        </p:spPr>
        <p:txBody>
          <a:bodyPr wrap="none">
            <a:spAutoFit/>
          </a:bodyPr>
          <a:lstStyle/>
          <a:p>
            <a:pPr algn="l"/>
            <a:r>
              <a:rPr lang="en-US" sz="2400" i="1">
                <a:latin typeface="Times New Roman" pitchFamily="18" charset="0"/>
              </a:rPr>
              <a:t>DBA</a:t>
            </a:r>
            <a:endParaRPr lang="en-US" sz="2400">
              <a:latin typeface="Times New Roman" pitchFamily="18" charset="0"/>
            </a:endParaRPr>
          </a:p>
        </p:txBody>
      </p:sp>
      <p:sp>
        <p:nvSpPr>
          <p:cNvPr id="17" name="Slide Number Placeholder 16"/>
          <p:cNvSpPr>
            <a:spLocks noGrp="1"/>
          </p:cNvSpPr>
          <p:nvPr>
            <p:ph type="sldNum" sz="quarter" idx="11"/>
          </p:nvPr>
        </p:nvSpPr>
        <p:spPr/>
        <p:txBody>
          <a:bodyPr/>
          <a:lstStyle/>
          <a:p>
            <a:fld id="{53DB83EC-317B-4F66-9E1E-297964FDF4D5}" type="slidenum">
              <a:rPr lang="en-US" smtClean="0"/>
              <a:pPr/>
              <a:t>18</a:t>
            </a:fld>
            <a:endParaRPr lang="en-US"/>
          </a:p>
        </p:txBody>
      </p:sp>
      <p:sp>
        <p:nvSpPr>
          <p:cNvPr id="18" name="Date Placeholder 17"/>
          <p:cNvSpPr>
            <a:spLocks noGrp="1"/>
          </p:cNvSpPr>
          <p:nvPr>
            <p:ph type="dt" sz="half" idx="10"/>
          </p:nvPr>
        </p:nvSpPr>
        <p:spPr/>
        <p:txBody>
          <a:bodyPr/>
          <a:lstStyle/>
          <a:p>
            <a:fld id="{4F51621A-F445-4E8A-A530-39D467DF9AAB}" type="datetime1">
              <a:rPr lang="en-US" smtClean="0"/>
              <a:t>10/29/2024</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t>Security Specification in SQL</a:t>
            </a:r>
          </a:p>
        </p:txBody>
      </p:sp>
      <p:sp>
        <p:nvSpPr>
          <p:cNvPr id="81923" name="Rectangle 3"/>
          <p:cNvSpPr>
            <a:spLocks noGrp="1" noChangeArrowheads="1"/>
          </p:cNvSpPr>
          <p:nvPr>
            <p:ph type="body" idx="4294967295"/>
          </p:nvPr>
        </p:nvSpPr>
        <p:spPr/>
        <p:txBody>
          <a:bodyPr/>
          <a:lstStyle/>
          <a:p>
            <a:r>
              <a:rPr lang="en-US" dirty="0"/>
              <a:t>The grant statement is used to confer authorization</a:t>
            </a:r>
          </a:p>
          <a:p>
            <a:pPr>
              <a:buFont typeface="Monotype Sorts" pitchFamily="2" charset="2"/>
              <a:buNone/>
            </a:pPr>
            <a:r>
              <a:rPr lang="en-US" dirty="0"/>
              <a:t>		</a:t>
            </a:r>
            <a:r>
              <a:rPr lang="en-US" b="1" dirty="0"/>
              <a:t>grant</a:t>
            </a:r>
            <a:r>
              <a:rPr lang="en-US" dirty="0"/>
              <a:t> &lt;privilege list&gt;</a:t>
            </a:r>
          </a:p>
          <a:p>
            <a:pPr>
              <a:buFont typeface="Monotype Sorts" pitchFamily="2" charset="2"/>
              <a:buNone/>
            </a:pPr>
            <a:r>
              <a:rPr lang="en-US" dirty="0"/>
              <a:t>		</a:t>
            </a:r>
            <a:r>
              <a:rPr lang="en-US" b="1" dirty="0"/>
              <a:t>on </a:t>
            </a:r>
            <a:r>
              <a:rPr lang="en-US" dirty="0"/>
              <a:t>&lt;relation name or view name&gt; to &lt;user list&gt;</a:t>
            </a:r>
          </a:p>
          <a:p>
            <a:r>
              <a:rPr lang="en-US" dirty="0"/>
              <a:t>&lt;user list&gt; is:</a:t>
            </a:r>
          </a:p>
          <a:p>
            <a:pPr lvl="1"/>
            <a:r>
              <a:rPr lang="en-US" dirty="0"/>
              <a:t>a user-id</a:t>
            </a:r>
          </a:p>
          <a:p>
            <a:pPr lvl="1"/>
            <a:r>
              <a:rPr lang="en-US" dirty="0" smtClean="0"/>
              <a:t>A </a:t>
            </a:r>
            <a:r>
              <a:rPr lang="en-US" dirty="0"/>
              <a:t>role </a:t>
            </a:r>
            <a:endParaRPr lang="en-US" dirty="0" smtClean="0"/>
          </a:p>
        </p:txBody>
      </p:sp>
      <p:sp>
        <p:nvSpPr>
          <p:cNvPr id="5" name="Slide Number Placeholder 4"/>
          <p:cNvSpPr>
            <a:spLocks noGrp="1"/>
          </p:cNvSpPr>
          <p:nvPr>
            <p:ph type="sldNum" sz="quarter" idx="11"/>
          </p:nvPr>
        </p:nvSpPr>
        <p:spPr/>
        <p:txBody>
          <a:bodyPr/>
          <a:lstStyle/>
          <a:p>
            <a:fld id="{53DB83EC-317B-4F66-9E1E-297964FDF4D5}" type="slidenum">
              <a:rPr lang="en-US" smtClean="0"/>
              <a:pPr/>
              <a:t>19</a:t>
            </a:fld>
            <a:endParaRPr lang="en-US"/>
          </a:p>
        </p:txBody>
      </p:sp>
      <p:sp>
        <p:nvSpPr>
          <p:cNvPr id="6" name="Date Placeholder 5"/>
          <p:cNvSpPr>
            <a:spLocks noGrp="1"/>
          </p:cNvSpPr>
          <p:nvPr>
            <p:ph type="dt" sz="half" idx="10"/>
          </p:nvPr>
        </p:nvSpPr>
        <p:spPr/>
        <p:txBody>
          <a:bodyPr/>
          <a:lstStyle/>
          <a:p>
            <a:fld id="{D2A8DBA7-2823-45E6-ABB2-8DF00F49AD98}" type="datetime1">
              <a:rPr lang="en-US" smtClean="0"/>
              <a:t>10/29/2024</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Privileges in SQL</a:t>
            </a:r>
          </a:p>
        </p:txBody>
      </p:sp>
      <p:sp>
        <p:nvSpPr>
          <p:cNvPr id="82947" name="Rectangle 3"/>
          <p:cNvSpPr>
            <a:spLocks noGrp="1" noChangeArrowheads="1"/>
          </p:cNvSpPr>
          <p:nvPr>
            <p:ph type="body" idx="4294967295"/>
          </p:nvPr>
        </p:nvSpPr>
        <p:spPr>
          <a:xfrm>
            <a:off x="685800" y="1219200"/>
            <a:ext cx="7467600" cy="4419600"/>
          </a:xfrm>
        </p:spPr>
        <p:txBody>
          <a:bodyPr/>
          <a:lstStyle/>
          <a:p>
            <a:r>
              <a:rPr lang="en-US" sz="1800" b="1"/>
              <a:t>select:</a:t>
            </a:r>
            <a:r>
              <a:rPr lang="en-US" sz="1800"/>
              <a:t> allows read access to relation,or the ability to query using the view</a:t>
            </a:r>
          </a:p>
          <a:p>
            <a:pPr lvl="1"/>
            <a:r>
              <a:rPr lang="en-US" sz="1600"/>
              <a:t>Example: grant users U</a:t>
            </a:r>
            <a:r>
              <a:rPr lang="en-US" sz="1600" baseline="-25000"/>
              <a:t>1</a:t>
            </a:r>
            <a:r>
              <a:rPr lang="en-US" sz="1600"/>
              <a:t>, U</a:t>
            </a:r>
            <a:r>
              <a:rPr lang="en-US" sz="1600" baseline="-25000"/>
              <a:t>2</a:t>
            </a:r>
            <a:r>
              <a:rPr lang="en-US" sz="1600"/>
              <a:t>, and U</a:t>
            </a:r>
            <a:r>
              <a:rPr lang="en-US" sz="1600" baseline="-25000"/>
              <a:t>3</a:t>
            </a:r>
            <a:r>
              <a:rPr lang="en-US" sz="1600"/>
              <a:t> </a:t>
            </a:r>
            <a:r>
              <a:rPr lang="en-US" sz="1600" b="1"/>
              <a:t>select</a:t>
            </a:r>
            <a:r>
              <a:rPr lang="en-US" sz="1600"/>
              <a:t> authorization on the </a:t>
            </a:r>
            <a:r>
              <a:rPr lang="en-US" sz="1600" i="1"/>
              <a:t>branch </a:t>
            </a:r>
            <a:r>
              <a:rPr lang="en-US" sz="1600"/>
              <a:t>relation:</a:t>
            </a:r>
          </a:p>
          <a:p>
            <a:pPr>
              <a:buFont typeface="Monotype Sorts" pitchFamily="2" charset="2"/>
              <a:buNone/>
            </a:pPr>
            <a:r>
              <a:rPr lang="en-US" sz="1800"/>
              <a:t>			</a:t>
            </a:r>
            <a:r>
              <a:rPr lang="en-US" sz="1800" b="1"/>
              <a:t>grant select on </a:t>
            </a:r>
            <a:r>
              <a:rPr lang="en-US" sz="1800" i="1"/>
              <a:t>branch </a:t>
            </a:r>
            <a:r>
              <a:rPr lang="en-US" sz="1800" b="1"/>
              <a:t>to </a:t>
            </a:r>
            <a:r>
              <a:rPr lang="en-US" sz="1800" i="1"/>
              <a:t>U</a:t>
            </a:r>
            <a:r>
              <a:rPr lang="en-US" sz="1800" i="1" baseline="-25000"/>
              <a:t>1</a:t>
            </a:r>
            <a:r>
              <a:rPr lang="en-US" sz="1800" i="1"/>
              <a:t>, U</a:t>
            </a:r>
            <a:r>
              <a:rPr lang="en-US" sz="1800" i="1" baseline="-25000"/>
              <a:t>2</a:t>
            </a:r>
            <a:r>
              <a:rPr lang="en-US" sz="1800" i="1"/>
              <a:t>, U</a:t>
            </a:r>
            <a:r>
              <a:rPr lang="en-US" sz="1800" i="1" baseline="-25000"/>
              <a:t>3</a:t>
            </a:r>
            <a:endParaRPr lang="en-US" sz="1800"/>
          </a:p>
          <a:p>
            <a:r>
              <a:rPr lang="en-US" sz="1800" b="1"/>
              <a:t>insert</a:t>
            </a:r>
            <a:r>
              <a:rPr lang="en-US" sz="1800"/>
              <a:t>: the ability to insert tuples</a:t>
            </a:r>
          </a:p>
          <a:p>
            <a:r>
              <a:rPr lang="en-US" sz="1800" b="1"/>
              <a:t>update</a:t>
            </a:r>
            <a:r>
              <a:rPr lang="en-US" sz="1800"/>
              <a:t>: the ability  to update using the SQL update statement</a:t>
            </a:r>
          </a:p>
          <a:p>
            <a:r>
              <a:rPr lang="en-US" sz="1800" b="1"/>
              <a:t>delete</a:t>
            </a:r>
            <a:r>
              <a:rPr lang="en-US" sz="1800"/>
              <a:t>: the ability to delete tuples.</a:t>
            </a:r>
          </a:p>
          <a:p>
            <a:r>
              <a:rPr lang="en-US" sz="1800" b="1"/>
              <a:t>references</a:t>
            </a:r>
            <a:r>
              <a:rPr lang="en-US" sz="1800"/>
              <a:t>: ability to declare foreign keys when creating relations.</a:t>
            </a:r>
          </a:p>
          <a:p>
            <a:r>
              <a:rPr lang="en-US" sz="1800" b="1"/>
              <a:t>usage</a:t>
            </a:r>
            <a:r>
              <a:rPr lang="en-US" sz="1800"/>
              <a:t>: In SQL-92; authorizes a user to use a specified domain</a:t>
            </a:r>
          </a:p>
          <a:p>
            <a:r>
              <a:rPr lang="en-US" sz="1800" b="1"/>
              <a:t>all privileges</a:t>
            </a:r>
            <a:r>
              <a:rPr lang="en-US" sz="1800"/>
              <a:t>: used as a short form for all the allowable privileges</a:t>
            </a:r>
          </a:p>
          <a:p>
            <a:endParaRPr lang="en-US" sz="1800"/>
          </a:p>
        </p:txBody>
      </p:sp>
      <p:sp>
        <p:nvSpPr>
          <p:cNvPr id="5" name="Slide Number Placeholder 4"/>
          <p:cNvSpPr>
            <a:spLocks noGrp="1"/>
          </p:cNvSpPr>
          <p:nvPr>
            <p:ph type="sldNum" sz="quarter" idx="11"/>
          </p:nvPr>
        </p:nvSpPr>
        <p:spPr/>
        <p:txBody>
          <a:bodyPr/>
          <a:lstStyle/>
          <a:p>
            <a:fld id="{53DB83EC-317B-4F66-9E1E-297964FDF4D5}" type="slidenum">
              <a:rPr lang="en-US" smtClean="0"/>
              <a:pPr/>
              <a:t>20</a:t>
            </a:fld>
            <a:endParaRPr lang="en-US"/>
          </a:p>
        </p:txBody>
      </p:sp>
      <p:sp>
        <p:nvSpPr>
          <p:cNvPr id="6" name="Date Placeholder 5"/>
          <p:cNvSpPr>
            <a:spLocks noGrp="1"/>
          </p:cNvSpPr>
          <p:nvPr>
            <p:ph type="dt" sz="half" idx="10"/>
          </p:nvPr>
        </p:nvSpPr>
        <p:spPr/>
        <p:txBody>
          <a:bodyPr/>
          <a:lstStyle/>
          <a:p>
            <a:fld id="{9B055513-F032-4F77-88BE-1A43E224879B}" type="datetime1">
              <a:rPr lang="en-US" smtClean="0"/>
              <a:t>10/29/2024</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2050"/>
          <p:cNvSpPr>
            <a:spLocks noGrp="1" noChangeArrowheads="1"/>
          </p:cNvSpPr>
          <p:nvPr>
            <p:ph type="title"/>
          </p:nvPr>
        </p:nvSpPr>
        <p:spPr/>
        <p:txBody>
          <a:bodyPr/>
          <a:lstStyle/>
          <a:p>
            <a:r>
              <a:rPr lang="en-US"/>
              <a:t>Privilege  To Grant Privileges</a:t>
            </a:r>
          </a:p>
        </p:txBody>
      </p:sp>
      <p:sp>
        <p:nvSpPr>
          <p:cNvPr id="83971" name="Rectangle 2051"/>
          <p:cNvSpPr>
            <a:spLocks noGrp="1" noChangeArrowheads="1"/>
          </p:cNvSpPr>
          <p:nvPr>
            <p:ph type="body" idx="4294967295"/>
          </p:nvPr>
        </p:nvSpPr>
        <p:spPr/>
        <p:txBody>
          <a:bodyPr/>
          <a:lstStyle/>
          <a:p>
            <a:r>
              <a:rPr lang="en-US" b="1"/>
              <a:t>with grant option</a:t>
            </a:r>
            <a:r>
              <a:rPr lang="en-US"/>
              <a:t>: allows a user who is granted a privilege to pass the privilege on to other users. </a:t>
            </a:r>
          </a:p>
          <a:p>
            <a:pPr lvl="1"/>
            <a:r>
              <a:rPr lang="en-US"/>
              <a:t>Example:</a:t>
            </a:r>
          </a:p>
          <a:p>
            <a:pPr lvl="3">
              <a:buFontTx/>
              <a:buNone/>
            </a:pPr>
            <a:r>
              <a:rPr lang="en-US" b="1"/>
              <a:t>grant select on </a:t>
            </a:r>
            <a:r>
              <a:rPr lang="en-US" i="1"/>
              <a:t>branch </a:t>
            </a:r>
            <a:r>
              <a:rPr lang="en-US" b="1"/>
              <a:t>to </a:t>
            </a:r>
            <a:r>
              <a:rPr lang="en-US" i="1"/>
              <a:t>U</a:t>
            </a:r>
            <a:r>
              <a:rPr lang="en-US" i="1" baseline="-25000"/>
              <a:t>1</a:t>
            </a:r>
            <a:r>
              <a:rPr lang="en-US" i="1"/>
              <a:t> </a:t>
            </a:r>
            <a:r>
              <a:rPr lang="en-US" b="1"/>
              <a:t>with grant option</a:t>
            </a:r>
            <a:endParaRPr lang="en-US"/>
          </a:p>
          <a:p>
            <a:pPr lvl="2">
              <a:buFont typeface="Monotype Sorts" pitchFamily="2" charset="2"/>
              <a:buNone/>
            </a:pPr>
            <a:r>
              <a:rPr lang="en-US"/>
              <a:t>gives U</a:t>
            </a:r>
            <a:r>
              <a:rPr lang="en-US" baseline="-25000"/>
              <a:t>1</a:t>
            </a:r>
            <a:r>
              <a:rPr lang="en-US"/>
              <a:t> the </a:t>
            </a:r>
            <a:r>
              <a:rPr lang="en-US" b="1"/>
              <a:t>select </a:t>
            </a:r>
            <a:r>
              <a:rPr lang="en-US"/>
              <a:t>privileges on branch and allows U</a:t>
            </a:r>
            <a:r>
              <a:rPr lang="en-US" baseline="-25000"/>
              <a:t>1</a:t>
            </a:r>
            <a:r>
              <a:rPr lang="en-US"/>
              <a:t> to grant this</a:t>
            </a:r>
          </a:p>
          <a:p>
            <a:pPr lvl="2">
              <a:buFont typeface="Monotype Sorts" pitchFamily="2" charset="2"/>
              <a:buNone/>
            </a:pPr>
            <a:r>
              <a:rPr lang="en-US"/>
              <a:t>privilege to others</a:t>
            </a:r>
          </a:p>
        </p:txBody>
      </p:sp>
      <p:sp>
        <p:nvSpPr>
          <p:cNvPr id="5" name="Slide Number Placeholder 4"/>
          <p:cNvSpPr>
            <a:spLocks noGrp="1"/>
          </p:cNvSpPr>
          <p:nvPr>
            <p:ph type="sldNum" sz="quarter" idx="11"/>
          </p:nvPr>
        </p:nvSpPr>
        <p:spPr/>
        <p:txBody>
          <a:bodyPr/>
          <a:lstStyle/>
          <a:p>
            <a:fld id="{53DB83EC-317B-4F66-9E1E-297964FDF4D5}" type="slidenum">
              <a:rPr lang="en-US" smtClean="0"/>
              <a:pPr/>
              <a:t>21</a:t>
            </a:fld>
            <a:endParaRPr lang="en-US"/>
          </a:p>
        </p:txBody>
      </p:sp>
      <p:sp>
        <p:nvSpPr>
          <p:cNvPr id="6" name="Date Placeholder 5"/>
          <p:cNvSpPr>
            <a:spLocks noGrp="1"/>
          </p:cNvSpPr>
          <p:nvPr>
            <p:ph type="dt" sz="half" idx="10"/>
          </p:nvPr>
        </p:nvSpPr>
        <p:spPr/>
        <p:txBody>
          <a:bodyPr/>
          <a:lstStyle/>
          <a:p>
            <a:fld id="{218130D2-8EA1-4E32-8AC3-7F30C62E6B03}" type="datetime1">
              <a:rPr lang="en-US" smtClean="0"/>
              <a:t>10/29/2024</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33400" y="228600"/>
            <a:ext cx="8077200" cy="609600"/>
          </a:xfrm>
        </p:spPr>
        <p:txBody>
          <a:bodyPr/>
          <a:lstStyle/>
          <a:p>
            <a:r>
              <a:rPr lang="en-US"/>
              <a:t>Roles</a:t>
            </a:r>
          </a:p>
        </p:txBody>
      </p:sp>
      <p:sp>
        <p:nvSpPr>
          <p:cNvPr id="87043" name="Rectangle 3"/>
          <p:cNvSpPr>
            <a:spLocks noGrp="1" noChangeArrowheads="1"/>
          </p:cNvSpPr>
          <p:nvPr>
            <p:ph type="body" idx="4294967295"/>
          </p:nvPr>
        </p:nvSpPr>
        <p:spPr>
          <a:xfrm>
            <a:off x="381000" y="1066800"/>
            <a:ext cx="8077200" cy="5181600"/>
          </a:xfrm>
        </p:spPr>
        <p:txBody>
          <a:bodyPr/>
          <a:lstStyle/>
          <a:p>
            <a:r>
              <a:rPr lang="en-US"/>
              <a:t>Roles permit common privileges for a class of users can be specified just once by creating a corresponding “role”</a:t>
            </a:r>
          </a:p>
          <a:p>
            <a:r>
              <a:rPr lang="en-US"/>
              <a:t>Privileges can be granted to or revoked from roles, just like user</a:t>
            </a:r>
          </a:p>
          <a:p>
            <a:r>
              <a:rPr lang="en-US"/>
              <a:t>Roles can be assigned to users, and even to other roles</a:t>
            </a:r>
          </a:p>
          <a:p>
            <a:r>
              <a:rPr lang="en-US"/>
              <a:t>SQL:1999 supports roles</a:t>
            </a:r>
          </a:p>
          <a:p>
            <a:pPr lvl="3">
              <a:buFontTx/>
              <a:buNone/>
            </a:pPr>
            <a:r>
              <a:rPr lang="en-US" b="1"/>
              <a:t>    create role </a:t>
            </a:r>
            <a:r>
              <a:rPr lang="en-US" i="1"/>
              <a:t> teller</a:t>
            </a:r>
            <a:r>
              <a:rPr lang="en-US"/>
              <a:t/>
            </a:r>
            <a:br>
              <a:rPr lang="en-US"/>
            </a:br>
            <a:r>
              <a:rPr lang="en-US" b="1"/>
              <a:t>create role </a:t>
            </a:r>
            <a:r>
              <a:rPr lang="en-US" i="1"/>
              <a:t>manager</a:t>
            </a:r>
            <a:br>
              <a:rPr lang="en-US" i="1"/>
            </a:br>
            <a:endParaRPr lang="en-US"/>
          </a:p>
          <a:p>
            <a:pPr lvl="3">
              <a:buFontTx/>
              <a:buNone/>
            </a:pPr>
            <a:r>
              <a:rPr lang="en-US" b="1"/>
              <a:t>    grant select on </a:t>
            </a:r>
            <a:r>
              <a:rPr lang="en-US" i="1"/>
              <a:t>branch </a:t>
            </a:r>
            <a:r>
              <a:rPr lang="en-US" b="1"/>
              <a:t>to </a:t>
            </a:r>
            <a:r>
              <a:rPr lang="en-US" i="1"/>
              <a:t> teller</a:t>
            </a:r>
            <a:br>
              <a:rPr lang="en-US" i="1"/>
            </a:br>
            <a:r>
              <a:rPr lang="en-US" b="1"/>
              <a:t>grant update (</a:t>
            </a:r>
            <a:r>
              <a:rPr lang="en-US" i="1"/>
              <a:t>balance</a:t>
            </a:r>
            <a:r>
              <a:rPr lang="en-US" b="1"/>
              <a:t>) on </a:t>
            </a:r>
            <a:r>
              <a:rPr lang="en-US" i="1"/>
              <a:t>account</a:t>
            </a:r>
            <a:r>
              <a:rPr lang="en-US" b="1"/>
              <a:t> to </a:t>
            </a:r>
            <a:r>
              <a:rPr lang="en-US" i="1"/>
              <a:t>teller</a:t>
            </a:r>
            <a:br>
              <a:rPr lang="en-US" i="1"/>
            </a:br>
            <a:r>
              <a:rPr lang="en-US" b="1"/>
              <a:t>grant all privileges on </a:t>
            </a:r>
            <a:r>
              <a:rPr lang="en-US" i="1"/>
              <a:t>account</a:t>
            </a:r>
            <a:r>
              <a:rPr lang="en-US" b="1"/>
              <a:t> to </a:t>
            </a:r>
            <a:r>
              <a:rPr lang="en-US" i="1"/>
              <a:t>manager</a:t>
            </a:r>
            <a:r>
              <a:rPr lang="en-US" b="1"/>
              <a:t/>
            </a:r>
            <a:br>
              <a:rPr lang="en-US" b="1"/>
            </a:br>
            <a:r>
              <a:rPr lang="en-US" b="1"/>
              <a:t/>
            </a:r>
            <a:br>
              <a:rPr lang="en-US" b="1"/>
            </a:br>
            <a:r>
              <a:rPr lang="en-US" b="1"/>
              <a:t>grant </a:t>
            </a:r>
            <a:r>
              <a:rPr lang="en-US" i="1"/>
              <a:t>teller </a:t>
            </a:r>
            <a:r>
              <a:rPr lang="en-US" b="1"/>
              <a:t>to </a:t>
            </a:r>
            <a:r>
              <a:rPr lang="en-US" i="1"/>
              <a:t>manager</a:t>
            </a:r>
            <a:r>
              <a:rPr lang="en-US"/>
              <a:t/>
            </a:r>
            <a:br>
              <a:rPr lang="en-US"/>
            </a:br>
            <a:r>
              <a:rPr lang="en-US"/>
              <a:t/>
            </a:r>
            <a:br>
              <a:rPr lang="en-US"/>
            </a:br>
            <a:r>
              <a:rPr lang="en-US" b="1"/>
              <a:t>grant</a:t>
            </a:r>
            <a:r>
              <a:rPr lang="en-US" b="1" i="1"/>
              <a:t> </a:t>
            </a:r>
            <a:r>
              <a:rPr lang="en-US" i="1"/>
              <a:t>teller </a:t>
            </a:r>
            <a:r>
              <a:rPr lang="en-US" b="1"/>
              <a:t>to </a:t>
            </a:r>
            <a:r>
              <a:rPr lang="en-US" i="1"/>
              <a:t>alice, bob</a:t>
            </a:r>
            <a:br>
              <a:rPr lang="en-US" i="1"/>
            </a:br>
            <a:r>
              <a:rPr lang="en-US" b="1"/>
              <a:t>grant  </a:t>
            </a:r>
            <a:r>
              <a:rPr lang="en-US" i="1"/>
              <a:t>manager</a:t>
            </a:r>
            <a:r>
              <a:rPr lang="en-US" b="1"/>
              <a:t>  to  </a:t>
            </a:r>
            <a:r>
              <a:rPr lang="en-US" i="1"/>
              <a:t>avi</a:t>
            </a:r>
          </a:p>
        </p:txBody>
      </p:sp>
      <p:sp>
        <p:nvSpPr>
          <p:cNvPr id="5" name="Slide Number Placeholder 4"/>
          <p:cNvSpPr>
            <a:spLocks noGrp="1"/>
          </p:cNvSpPr>
          <p:nvPr>
            <p:ph type="sldNum" sz="quarter" idx="11"/>
          </p:nvPr>
        </p:nvSpPr>
        <p:spPr/>
        <p:txBody>
          <a:bodyPr/>
          <a:lstStyle/>
          <a:p>
            <a:fld id="{53DB83EC-317B-4F66-9E1E-297964FDF4D5}" type="slidenum">
              <a:rPr lang="en-US" smtClean="0"/>
              <a:pPr/>
              <a:t>22</a:t>
            </a:fld>
            <a:endParaRPr lang="en-US"/>
          </a:p>
        </p:txBody>
      </p:sp>
      <p:sp>
        <p:nvSpPr>
          <p:cNvPr id="6" name="Date Placeholder 5"/>
          <p:cNvSpPr>
            <a:spLocks noGrp="1"/>
          </p:cNvSpPr>
          <p:nvPr>
            <p:ph type="dt" sz="half" idx="10"/>
          </p:nvPr>
        </p:nvSpPr>
        <p:spPr/>
        <p:txBody>
          <a:bodyPr/>
          <a:lstStyle/>
          <a:p>
            <a:fld id="{CFEF12ED-423C-40EC-B6CA-71679A6D17DC}" type="datetime1">
              <a:rPr lang="en-US" smtClean="0"/>
              <a:t>10/29/2024</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t>Revoking Authorization in SQL</a:t>
            </a:r>
          </a:p>
        </p:txBody>
      </p:sp>
      <p:sp>
        <p:nvSpPr>
          <p:cNvPr id="84995" name="Rectangle 3"/>
          <p:cNvSpPr>
            <a:spLocks noGrp="1" noChangeArrowheads="1"/>
          </p:cNvSpPr>
          <p:nvPr>
            <p:ph type="body" idx="4294967295"/>
          </p:nvPr>
        </p:nvSpPr>
        <p:spPr/>
        <p:txBody>
          <a:bodyPr/>
          <a:lstStyle/>
          <a:p>
            <a:r>
              <a:rPr lang="en-US"/>
              <a:t>The </a:t>
            </a:r>
            <a:r>
              <a:rPr lang="en-US" b="1"/>
              <a:t>revoke </a:t>
            </a:r>
            <a:r>
              <a:rPr lang="en-US"/>
              <a:t>statement is used to revoke authorization.</a:t>
            </a:r>
          </a:p>
          <a:p>
            <a:pPr lvl="1">
              <a:buFont typeface="Monotype Sorts" pitchFamily="2" charset="2"/>
              <a:buNone/>
            </a:pPr>
            <a:r>
              <a:rPr lang="en-US" b="1"/>
              <a:t>revoke</a:t>
            </a:r>
            <a:r>
              <a:rPr lang="en-US"/>
              <a:t>&lt;privilege list&gt;</a:t>
            </a:r>
          </a:p>
          <a:p>
            <a:pPr lvl="1">
              <a:buFont typeface="Monotype Sorts" pitchFamily="2" charset="2"/>
              <a:buNone/>
            </a:pPr>
            <a:r>
              <a:rPr lang="en-US" b="1"/>
              <a:t>on </a:t>
            </a:r>
            <a:r>
              <a:rPr lang="en-US"/>
              <a:t>&lt;relation name or view name&gt; </a:t>
            </a:r>
            <a:r>
              <a:rPr lang="en-US" b="1"/>
              <a:t>from </a:t>
            </a:r>
            <a:r>
              <a:rPr lang="en-US"/>
              <a:t>&lt;user list&gt; [</a:t>
            </a:r>
            <a:r>
              <a:rPr lang="en-US" b="1"/>
              <a:t>restrict</a:t>
            </a:r>
            <a:r>
              <a:rPr lang="en-US"/>
              <a:t>|</a:t>
            </a:r>
            <a:r>
              <a:rPr lang="en-US" b="1"/>
              <a:t>cascade</a:t>
            </a:r>
            <a:r>
              <a:rPr lang="en-US"/>
              <a:t>]</a:t>
            </a:r>
          </a:p>
          <a:p>
            <a:r>
              <a:rPr lang="en-US"/>
              <a:t>Example:</a:t>
            </a:r>
          </a:p>
          <a:p>
            <a:pPr lvl="1">
              <a:buFont typeface="Monotype Sorts" pitchFamily="2" charset="2"/>
              <a:buNone/>
            </a:pPr>
            <a:r>
              <a:rPr lang="en-US" b="1"/>
              <a:t>revoke select on </a:t>
            </a:r>
            <a:r>
              <a:rPr lang="en-US" i="1"/>
              <a:t>branch  </a:t>
            </a:r>
            <a:r>
              <a:rPr lang="en-US" b="1"/>
              <a:t>from </a:t>
            </a:r>
            <a:r>
              <a:rPr lang="en-US" i="1"/>
              <a:t>U</a:t>
            </a:r>
            <a:r>
              <a:rPr lang="en-US" i="1" baseline="-25000"/>
              <a:t>1</a:t>
            </a:r>
            <a:r>
              <a:rPr lang="en-US" i="1"/>
              <a:t>, U</a:t>
            </a:r>
            <a:r>
              <a:rPr lang="en-US" i="1" baseline="-25000"/>
              <a:t>2</a:t>
            </a:r>
            <a:r>
              <a:rPr lang="en-US" i="1"/>
              <a:t>, U</a:t>
            </a:r>
            <a:r>
              <a:rPr lang="en-US" i="1" baseline="-25000"/>
              <a:t>3</a:t>
            </a:r>
            <a:r>
              <a:rPr lang="en-US" i="1"/>
              <a:t> </a:t>
            </a:r>
            <a:r>
              <a:rPr lang="en-US" b="1"/>
              <a:t>cascade</a:t>
            </a:r>
            <a:endParaRPr lang="en-US"/>
          </a:p>
          <a:p>
            <a:r>
              <a:rPr lang="en-US"/>
              <a:t>Revocation of a privilege from a user may cause other users also to lose that privilege; referred to as cascading of the </a:t>
            </a:r>
            <a:r>
              <a:rPr lang="en-US" b="1"/>
              <a:t>revoke</a:t>
            </a:r>
            <a:r>
              <a:rPr lang="en-US"/>
              <a:t>.</a:t>
            </a:r>
          </a:p>
          <a:p>
            <a:r>
              <a:rPr lang="en-US"/>
              <a:t>We can prevent cascading by specifying </a:t>
            </a:r>
            <a:r>
              <a:rPr lang="en-US" b="1"/>
              <a:t>restrict</a:t>
            </a:r>
            <a:r>
              <a:rPr lang="en-US"/>
              <a:t>:</a:t>
            </a:r>
          </a:p>
          <a:p>
            <a:pPr lvl="1">
              <a:buFont typeface="Monotype Sorts" pitchFamily="2" charset="2"/>
              <a:buNone/>
            </a:pPr>
            <a:r>
              <a:rPr lang="en-US" b="1"/>
              <a:t>	revoke select on </a:t>
            </a:r>
            <a:r>
              <a:rPr lang="en-US" i="1"/>
              <a:t>branch </a:t>
            </a:r>
            <a:r>
              <a:rPr lang="en-US" b="1"/>
              <a:t>from </a:t>
            </a:r>
            <a:r>
              <a:rPr lang="en-US" i="1"/>
              <a:t>U</a:t>
            </a:r>
            <a:r>
              <a:rPr lang="en-US" i="1" baseline="-25000"/>
              <a:t>1</a:t>
            </a:r>
            <a:r>
              <a:rPr lang="en-US" i="1"/>
              <a:t>, U</a:t>
            </a:r>
            <a:r>
              <a:rPr lang="en-US" i="1" baseline="-25000"/>
              <a:t>2</a:t>
            </a:r>
            <a:r>
              <a:rPr lang="en-US" i="1"/>
              <a:t>, U</a:t>
            </a:r>
            <a:r>
              <a:rPr lang="en-US" i="1" baseline="-25000"/>
              <a:t>3</a:t>
            </a:r>
            <a:r>
              <a:rPr lang="en-US" i="1"/>
              <a:t> </a:t>
            </a:r>
            <a:r>
              <a:rPr lang="en-US" b="1"/>
              <a:t>restrict</a:t>
            </a:r>
            <a:endParaRPr lang="en-US"/>
          </a:p>
          <a:p>
            <a:pPr>
              <a:buFont typeface="Monotype Sorts" pitchFamily="2" charset="2"/>
              <a:buNone/>
            </a:pPr>
            <a:r>
              <a:rPr lang="en-US"/>
              <a:t>	With </a:t>
            </a:r>
            <a:r>
              <a:rPr lang="en-US" b="1"/>
              <a:t>restrict</a:t>
            </a:r>
            <a:r>
              <a:rPr lang="en-US"/>
              <a:t>, the </a:t>
            </a:r>
            <a:r>
              <a:rPr lang="en-US" b="1"/>
              <a:t>revoke </a:t>
            </a:r>
            <a:r>
              <a:rPr lang="en-US"/>
              <a:t>command fails if  cascading revokes are required.</a:t>
            </a:r>
          </a:p>
        </p:txBody>
      </p:sp>
      <p:sp>
        <p:nvSpPr>
          <p:cNvPr id="5" name="Slide Number Placeholder 4"/>
          <p:cNvSpPr>
            <a:spLocks noGrp="1"/>
          </p:cNvSpPr>
          <p:nvPr>
            <p:ph type="sldNum" sz="quarter" idx="11"/>
          </p:nvPr>
        </p:nvSpPr>
        <p:spPr/>
        <p:txBody>
          <a:bodyPr/>
          <a:lstStyle/>
          <a:p>
            <a:fld id="{53DB83EC-317B-4F66-9E1E-297964FDF4D5}" type="slidenum">
              <a:rPr lang="en-US" smtClean="0"/>
              <a:pPr/>
              <a:t>23</a:t>
            </a:fld>
            <a:endParaRPr lang="en-US"/>
          </a:p>
        </p:txBody>
      </p:sp>
      <p:sp>
        <p:nvSpPr>
          <p:cNvPr id="6" name="Date Placeholder 5"/>
          <p:cNvSpPr>
            <a:spLocks noGrp="1"/>
          </p:cNvSpPr>
          <p:nvPr>
            <p:ph type="dt" sz="half" idx="10"/>
          </p:nvPr>
        </p:nvSpPr>
        <p:spPr/>
        <p:txBody>
          <a:bodyPr/>
          <a:lstStyle/>
          <a:p>
            <a:fld id="{A4263696-06EE-4BE9-8CA0-5F650E937793}" type="datetime1">
              <a:rPr lang="en-US" smtClean="0"/>
              <a:t>10/29/2024</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t>Encryption</a:t>
            </a:r>
          </a:p>
        </p:txBody>
      </p:sp>
      <p:sp>
        <p:nvSpPr>
          <p:cNvPr id="88067" name="Rectangle 3"/>
          <p:cNvSpPr>
            <a:spLocks noGrp="1" noChangeArrowheads="1"/>
          </p:cNvSpPr>
          <p:nvPr>
            <p:ph type="body" idx="4294967295"/>
          </p:nvPr>
        </p:nvSpPr>
        <p:spPr/>
        <p:txBody>
          <a:bodyPr/>
          <a:lstStyle/>
          <a:p>
            <a:r>
              <a:rPr lang="en-US"/>
              <a:t>Data may be </a:t>
            </a:r>
            <a:r>
              <a:rPr lang="en-US" i="1"/>
              <a:t>encrypted</a:t>
            </a:r>
            <a:r>
              <a:rPr lang="en-US"/>
              <a:t> when database authorization provisions do not offer sufficient protection.</a:t>
            </a:r>
          </a:p>
          <a:p>
            <a:r>
              <a:rPr lang="en-US"/>
              <a:t>Properties of good encryption technique:</a:t>
            </a:r>
          </a:p>
          <a:p>
            <a:pPr lvl="1"/>
            <a:r>
              <a:rPr lang="en-US"/>
              <a:t>Relatively simple for authorized users to encrypt and decrypt data.</a:t>
            </a:r>
          </a:p>
          <a:p>
            <a:pPr lvl="1"/>
            <a:r>
              <a:rPr lang="en-US"/>
              <a:t>Encryption scheme depends not on the secrecy of the algorithm but on the secrecy of a parameter of the algorithm  called the  encryption key.</a:t>
            </a:r>
          </a:p>
          <a:p>
            <a:pPr lvl="1"/>
            <a:r>
              <a:rPr lang="en-US"/>
              <a:t>Extremely difficult for an intruder to determine the encryption key.</a:t>
            </a:r>
          </a:p>
        </p:txBody>
      </p:sp>
      <p:sp>
        <p:nvSpPr>
          <p:cNvPr id="5" name="Slide Number Placeholder 4"/>
          <p:cNvSpPr>
            <a:spLocks noGrp="1"/>
          </p:cNvSpPr>
          <p:nvPr>
            <p:ph type="sldNum" sz="quarter" idx="11"/>
          </p:nvPr>
        </p:nvSpPr>
        <p:spPr/>
        <p:txBody>
          <a:bodyPr/>
          <a:lstStyle/>
          <a:p>
            <a:fld id="{53DB83EC-317B-4F66-9E1E-297964FDF4D5}" type="slidenum">
              <a:rPr lang="en-US" smtClean="0"/>
              <a:pPr/>
              <a:t>24</a:t>
            </a:fld>
            <a:endParaRPr lang="en-US"/>
          </a:p>
        </p:txBody>
      </p:sp>
      <p:sp>
        <p:nvSpPr>
          <p:cNvPr id="6" name="Date Placeholder 5"/>
          <p:cNvSpPr>
            <a:spLocks noGrp="1"/>
          </p:cNvSpPr>
          <p:nvPr>
            <p:ph type="dt" sz="half" idx="10"/>
          </p:nvPr>
        </p:nvSpPr>
        <p:spPr/>
        <p:txBody>
          <a:bodyPr/>
          <a:lstStyle/>
          <a:p>
            <a:fld id="{58A21921-BF05-4BF7-A0F8-B39615A9997A}" type="datetime1">
              <a:rPr lang="en-US" smtClean="0"/>
              <a:t>10/29/2024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t>Encryption (Cont.)</a:t>
            </a:r>
          </a:p>
        </p:txBody>
      </p:sp>
      <p:sp>
        <p:nvSpPr>
          <p:cNvPr id="89091" name="Rectangle 3"/>
          <p:cNvSpPr>
            <a:spLocks noGrp="1" noChangeArrowheads="1"/>
          </p:cNvSpPr>
          <p:nvPr>
            <p:ph type="body" idx="4294967295"/>
          </p:nvPr>
        </p:nvSpPr>
        <p:spPr>
          <a:xfrm>
            <a:off x="571500" y="1114425"/>
            <a:ext cx="7810500" cy="5057775"/>
          </a:xfrm>
        </p:spPr>
        <p:txBody>
          <a:bodyPr/>
          <a:lstStyle/>
          <a:p>
            <a:pPr>
              <a:lnSpc>
                <a:spcPct val="90000"/>
              </a:lnSpc>
            </a:pPr>
            <a:r>
              <a:rPr lang="en-US" sz="1800" i="1"/>
              <a:t> </a:t>
            </a:r>
            <a:r>
              <a:rPr lang="en-US" sz="1800" i="1">
                <a:solidFill>
                  <a:schemeClr val="tx2"/>
                </a:solidFill>
              </a:rPr>
              <a:t>Data Encryption Standard</a:t>
            </a:r>
            <a:r>
              <a:rPr lang="en-US" sz="1800">
                <a:solidFill>
                  <a:schemeClr val="tx2"/>
                </a:solidFill>
              </a:rPr>
              <a:t> (DES)</a:t>
            </a:r>
            <a:r>
              <a:rPr lang="en-US" sz="1800"/>
              <a:t> substitutes characters and rearranges their order on the basis of an encryption key which is  provided to authorized users via a secure mechanism. Scheme is no more secure than the key transmission mechanism since the key has to be shared.</a:t>
            </a:r>
          </a:p>
          <a:p>
            <a:pPr>
              <a:lnSpc>
                <a:spcPct val="90000"/>
              </a:lnSpc>
            </a:pPr>
            <a:r>
              <a:rPr lang="en-US" sz="1800">
                <a:solidFill>
                  <a:schemeClr val="tx2"/>
                </a:solidFill>
              </a:rPr>
              <a:t>Advanced Encryption Standard (AES)</a:t>
            </a:r>
            <a:r>
              <a:rPr lang="en-US" sz="1800"/>
              <a:t> is a new standard replacing DES, and is based on the Rijndael algorithm, but is also dependent on shared secret keys</a:t>
            </a:r>
          </a:p>
          <a:p>
            <a:pPr>
              <a:lnSpc>
                <a:spcPct val="90000"/>
              </a:lnSpc>
            </a:pPr>
            <a:r>
              <a:rPr lang="en-US" sz="1800"/>
              <a:t> </a:t>
            </a:r>
            <a:r>
              <a:rPr lang="en-US" sz="1800" i="1">
                <a:solidFill>
                  <a:schemeClr val="tx2"/>
                </a:solidFill>
              </a:rPr>
              <a:t>Public-key encryption</a:t>
            </a:r>
            <a:r>
              <a:rPr lang="en-US" sz="1800"/>
              <a:t> is based on each user having two keys:</a:t>
            </a:r>
          </a:p>
          <a:p>
            <a:pPr lvl="1">
              <a:lnSpc>
                <a:spcPct val="90000"/>
              </a:lnSpc>
            </a:pPr>
            <a:r>
              <a:rPr lang="en-US" sz="1600" i="1"/>
              <a:t>public key</a:t>
            </a:r>
            <a:r>
              <a:rPr lang="en-US" sz="1600"/>
              <a:t> – publicly published key used to encrypt data, but cannot be used to decrypt data</a:t>
            </a:r>
          </a:p>
          <a:p>
            <a:pPr lvl="1">
              <a:lnSpc>
                <a:spcPct val="90000"/>
              </a:lnSpc>
            </a:pPr>
            <a:r>
              <a:rPr lang="en-US" sz="1600"/>
              <a:t> </a:t>
            </a:r>
            <a:r>
              <a:rPr lang="en-US" sz="1600" i="1"/>
              <a:t>private key</a:t>
            </a:r>
            <a:r>
              <a:rPr lang="en-US" sz="1600"/>
              <a:t> -- key known only to individual user, and used to decrypt data.</a:t>
            </a:r>
            <a:br>
              <a:rPr lang="en-US" sz="1600"/>
            </a:br>
            <a:r>
              <a:rPr lang="en-US" sz="1600"/>
              <a:t>Need not be transmitted to the site doing encryption.</a:t>
            </a:r>
          </a:p>
          <a:p>
            <a:pPr>
              <a:lnSpc>
                <a:spcPct val="90000"/>
              </a:lnSpc>
              <a:buFont typeface="Monotype Sorts" pitchFamily="2" charset="2"/>
              <a:buNone/>
            </a:pPr>
            <a:r>
              <a:rPr lang="en-US" sz="1800"/>
              <a:t>     Encryption scheme is such that it is impossible or extremely hard to decrypt data given only  the public key.</a:t>
            </a:r>
          </a:p>
          <a:p>
            <a:pPr>
              <a:lnSpc>
                <a:spcPct val="90000"/>
              </a:lnSpc>
            </a:pPr>
            <a:r>
              <a:rPr lang="en-US" sz="1800"/>
              <a:t>The RSA  public-key encryption scheme is based on the hardness of factoring a very large number (100's of digits) into its prime components.</a:t>
            </a:r>
          </a:p>
        </p:txBody>
      </p:sp>
      <p:sp>
        <p:nvSpPr>
          <p:cNvPr id="5" name="Slide Number Placeholder 4"/>
          <p:cNvSpPr>
            <a:spLocks noGrp="1"/>
          </p:cNvSpPr>
          <p:nvPr>
            <p:ph type="sldNum" sz="quarter" idx="11"/>
          </p:nvPr>
        </p:nvSpPr>
        <p:spPr/>
        <p:txBody>
          <a:bodyPr/>
          <a:lstStyle/>
          <a:p>
            <a:fld id="{53DB83EC-317B-4F66-9E1E-297964FDF4D5}" type="slidenum">
              <a:rPr lang="en-US" smtClean="0"/>
              <a:pPr/>
              <a:t>25</a:t>
            </a:fld>
            <a:endParaRPr lang="en-US"/>
          </a:p>
        </p:txBody>
      </p:sp>
      <p:sp>
        <p:nvSpPr>
          <p:cNvPr id="6" name="Date Placeholder 5"/>
          <p:cNvSpPr>
            <a:spLocks noGrp="1"/>
          </p:cNvSpPr>
          <p:nvPr>
            <p:ph type="dt" sz="half" idx="10"/>
          </p:nvPr>
        </p:nvSpPr>
        <p:spPr/>
        <p:txBody>
          <a:bodyPr/>
          <a:lstStyle/>
          <a:p>
            <a:fld id="{77E2A697-47AF-4B46-A8BA-068B8844F149}" type="datetime1">
              <a:rPr lang="en-US" smtClean="0"/>
              <a:t>10/29/2024</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t>Authentication</a:t>
            </a:r>
          </a:p>
        </p:txBody>
      </p:sp>
      <p:sp>
        <p:nvSpPr>
          <p:cNvPr id="105475" name="Rectangle 3"/>
          <p:cNvSpPr>
            <a:spLocks noGrp="1" noChangeArrowheads="1"/>
          </p:cNvSpPr>
          <p:nvPr>
            <p:ph type="body" idx="1"/>
          </p:nvPr>
        </p:nvSpPr>
        <p:spPr>
          <a:xfrm>
            <a:off x="533400" y="990600"/>
            <a:ext cx="7886700" cy="5210175"/>
          </a:xfrm>
        </p:spPr>
        <p:txBody>
          <a:bodyPr/>
          <a:lstStyle/>
          <a:p>
            <a:r>
              <a:rPr lang="en-US" dirty="0"/>
              <a:t>Password based authentication is widely used, but is susceptible to sniffing on a network</a:t>
            </a:r>
          </a:p>
          <a:p>
            <a:r>
              <a:rPr lang="en-US" dirty="0" smtClean="0"/>
              <a:t>used </a:t>
            </a:r>
            <a:r>
              <a:rPr lang="en-US" dirty="0"/>
              <a:t>to verify authenticity of data</a:t>
            </a:r>
          </a:p>
          <a:p>
            <a:pPr lvl="1"/>
            <a:r>
              <a:rPr lang="en-US" dirty="0"/>
              <a:t>E.g. use private key (in reverse) to encrypt data, and anyone can verify authenticity by using public key (in reverse) to decrypt data.  Only holder of private key could have created the encrypted data.</a:t>
            </a:r>
          </a:p>
          <a:p>
            <a:pPr lvl="1"/>
            <a:r>
              <a:rPr lang="en-US" dirty="0"/>
              <a:t>Digital signatures also help ensure </a:t>
            </a:r>
            <a:r>
              <a:rPr lang="en-US" b="1" dirty="0">
                <a:solidFill>
                  <a:schemeClr val="tx2"/>
                </a:solidFill>
              </a:rPr>
              <a:t>nonrepudiation: </a:t>
            </a:r>
            <a:r>
              <a:rPr lang="en-US" dirty="0"/>
              <a:t>sender</a:t>
            </a:r>
            <a:br>
              <a:rPr lang="en-US" dirty="0"/>
            </a:br>
            <a:r>
              <a:rPr lang="en-US" dirty="0"/>
              <a:t>cannot later claim to have not created the data</a:t>
            </a:r>
            <a:endParaRPr lang="en-US" b="1" dirty="0">
              <a:solidFill>
                <a:schemeClr val="tx2"/>
              </a:solidFill>
            </a:endParaRPr>
          </a:p>
        </p:txBody>
      </p:sp>
      <p:sp>
        <p:nvSpPr>
          <p:cNvPr id="5" name="Slide Number Placeholder 4"/>
          <p:cNvSpPr>
            <a:spLocks noGrp="1"/>
          </p:cNvSpPr>
          <p:nvPr>
            <p:ph type="sldNum" sz="quarter" idx="11"/>
          </p:nvPr>
        </p:nvSpPr>
        <p:spPr/>
        <p:txBody>
          <a:bodyPr/>
          <a:lstStyle/>
          <a:p>
            <a:fld id="{0CE8B4ED-F473-44DC-8BCA-08AC378C3B98}" type="slidenum">
              <a:rPr lang="en-US" smtClean="0"/>
              <a:pPr/>
              <a:t>26</a:t>
            </a:fld>
            <a:endParaRPr lang="en-US"/>
          </a:p>
        </p:txBody>
      </p:sp>
      <p:sp>
        <p:nvSpPr>
          <p:cNvPr id="6" name="Date Placeholder 5"/>
          <p:cNvSpPr>
            <a:spLocks noGrp="1"/>
          </p:cNvSpPr>
          <p:nvPr>
            <p:ph type="dt" sz="half" idx="10"/>
          </p:nvPr>
        </p:nvSpPr>
        <p:spPr/>
        <p:txBody>
          <a:bodyPr/>
          <a:lstStyle/>
          <a:p>
            <a:fld id="{792047F6-4E5A-4487-A937-29CECFE0A8FB}" type="datetime1">
              <a:rPr lang="en-US" smtClean="0"/>
              <a:t>10/29/2024</a:t>
            </a:fld>
            <a:endParaRPr lang="en-US"/>
          </a:p>
        </p:txBody>
      </p:sp>
    </p:spTree>
  </p:cSld>
  <p:clrMapOvr>
    <a:masterClrMapping/>
  </p:clrMapOvr>
</p:sld>
</file>

<file path=ppt/theme/theme1.xml><?xml version="1.0" encoding="utf-8"?>
<a:theme xmlns:a="http://schemas.openxmlformats.org/drawingml/2006/main" name="db-book">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db-book">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db-book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7322</TotalTime>
  <Words>1537</Words>
  <Application>Microsoft Office PowerPoint</Application>
  <PresentationFormat>On-screen Show (4:3)</PresentationFormat>
  <Paragraphs>224</Paragraphs>
  <Slides>26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Helvetica</vt:lpstr>
      <vt:lpstr>Monotype Sorts</vt:lpstr>
      <vt:lpstr>Symbol</vt:lpstr>
      <vt:lpstr>Times New Roman</vt:lpstr>
      <vt:lpstr>db-book</vt:lpstr>
      <vt:lpstr>Clip</vt:lpstr>
      <vt:lpstr>Integrity and Security</vt:lpstr>
      <vt:lpstr>Domain Constraints</vt:lpstr>
      <vt:lpstr>Domain Constraints (Cont.)</vt:lpstr>
      <vt:lpstr>Referential Integrity</vt:lpstr>
      <vt:lpstr>Referential Integrity in SQL</vt:lpstr>
      <vt:lpstr>Referential Integrity in SQL – Example</vt:lpstr>
      <vt:lpstr>Referential Integrity in SQL – Example (Cont.)</vt:lpstr>
      <vt:lpstr>Cascading Actions in SQL</vt:lpstr>
      <vt:lpstr>Triggers</vt:lpstr>
      <vt:lpstr>Trigger Example </vt:lpstr>
      <vt:lpstr>Trigger Example </vt:lpstr>
      <vt:lpstr>Triggering Events and Actions in SQL</vt:lpstr>
      <vt:lpstr>Security</vt:lpstr>
      <vt:lpstr>Security (Cont.)</vt:lpstr>
      <vt:lpstr>Authorization</vt:lpstr>
      <vt:lpstr>Authorization (Cont.)</vt:lpstr>
      <vt:lpstr>View Example</vt:lpstr>
      <vt:lpstr>Granting of Privileges</vt:lpstr>
      <vt:lpstr>Security Specification in SQL</vt:lpstr>
      <vt:lpstr>Privileges in SQL</vt:lpstr>
      <vt:lpstr>Privilege  To Grant Privileges</vt:lpstr>
      <vt:lpstr>Roles</vt:lpstr>
      <vt:lpstr>Revoking Authorization in SQL</vt:lpstr>
      <vt:lpstr>Encryption</vt:lpstr>
      <vt:lpstr>Encryption (Cont.)</vt:lpstr>
      <vt:lpstr>Authentication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dc:title>
  <dc:creator>Marilyn Turnamian</dc:creator>
  <cp:lastModifiedBy>iict</cp:lastModifiedBy>
  <cp:revision>79</cp:revision>
  <cp:lastPrinted>1999-06-28T19:27:31Z</cp:lastPrinted>
  <dcterms:created xsi:type="dcterms:W3CDTF">2000-02-07T19:26:30Z</dcterms:created>
  <dcterms:modified xsi:type="dcterms:W3CDTF">2024-10-29T04:49:52Z</dcterms:modified>
</cp:coreProperties>
</file>